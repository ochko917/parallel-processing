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libri" panose="020F0502020204030204" pitchFamily="34" charset="0"/>
      <p:regular r:id="rId15"/>
      <p:bold r:id="rId16"/>
      <p:italic r:id="rId17"/>
      <p:boldItalic r:id="rId18"/>
    </p:embeddedFont>
    <p:embeddedFont>
      <p:font typeface="Montserrat" pitchFamily="2" charset="77"/>
      <p:regular r:id="rId19"/>
      <p:bold r:id="rId20"/>
    </p:embeddedFont>
    <p:embeddedFont>
      <p:font typeface="Montserrat Bold" pitchFamily="2" charset="77"/>
      <p:regular r:id="rId21"/>
      <p:bold r:id="rId22"/>
    </p:embeddedFont>
    <p:embeddedFont>
      <p:font typeface="Montserrat Ultra-Bold" pitchFamily="2" charset="77"/>
      <p:regular r:id="rId23"/>
      <p:bold r:id="rId24"/>
    </p:embeddedFont>
    <p:embeddedFont>
      <p:font typeface="Open Sauce" pitchFamily="2" charset="77"/>
      <p:regular r:id="rId25"/>
    </p:embeddedFont>
    <p:embeddedFont>
      <p:font typeface="Open Sauce Bold" pitchFamily="2" charset="77"/>
      <p:regular r:id="rId26"/>
      <p:bold r:id="rId27"/>
    </p:embeddedFont>
    <p:embeddedFont>
      <p:font typeface="Open Sauce Heavy" pitchFamily="2" charset="77"/>
      <p:regular r:id="rId28"/>
      <p:bold r:id="rId29"/>
    </p:embeddedFont>
    <p:embeddedFont>
      <p:font typeface="Open Sauce Light" pitchFamily="2" charset="77"/>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94643" autoAdjust="0"/>
  </p:normalViewPr>
  <p:slideViewPr>
    <p:cSldViewPr>
      <p:cViewPr varScale="1">
        <p:scale>
          <a:sx n="70" d="100"/>
          <a:sy n="70" d="100"/>
        </p:scale>
        <p:origin x="848"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4.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3.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2.pn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png"/><Relationship Id="rId9" Type="http://schemas.openxmlformats.org/officeDocument/2006/relationships/image" Target="../media/image8.sv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4.svg"/><Relationship Id="rId7"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hyperlink" Target="https://www.techtarget.com/whatis/definition/processor" TargetMode="External"/><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4.svg"/><Relationship Id="rId7" Type="http://schemas.openxmlformats.org/officeDocument/2006/relationships/image" Target="../media/image2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4.svg"/><Relationship Id="rId7"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2"/>
            <a:stretch>
              <a:fillRect/>
            </a:stretch>
          </a:blipFill>
        </p:spPr>
        <p:txBody>
          <a:bodyPr/>
          <a:lstStyle/>
          <a:p>
            <a:endParaRPr lang="en-MN"/>
          </a:p>
        </p:txBody>
      </p:sp>
      <p:sp>
        <p:nvSpPr>
          <p:cNvPr id="6" name="Freeform 6"/>
          <p:cNvSpPr/>
          <p:nvPr/>
        </p:nvSpPr>
        <p:spPr>
          <a:xfrm>
            <a:off x="-8040681" y="-1805781"/>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3"/>
            <a:stretch>
              <a:fillRect/>
            </a:stretch>
          </a:blipFill>
        </p:spPr>
        <p:txBody>
          <a:bodyPr/>
          <a:lstStyle/>
          <a:p>
            <a:endParaRPr lang="en-MN"/>
          </a:p>
        </p:txBody>
      </p:sp>
      <p:sp>
        <p:nvSpPr>
          <p:cNvPr id="7" name="Freeform 7"/>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MN"/>
          </a:p>
        </p:txBody>
      </p:sp>
      <p:sp>
        <p:nvSpPr>
          <p:cNvPr id="8" name="TextBox 8"/>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Home</a:t>
            </a:r>
          </a:p>
        </p:txBody>
      </p:sp>
      <p:sp>
        <p:nvSpPr>
          <p:cNvPr id="9" name="TextBox 9"/>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About</a:t>
            </a:r>
          </a:p>
        </p:txBody>
      </p:sp>
      <p:sp>
        <p:nvSpPr>
          <p:cNvPr id="10" name="TextBox 10"/>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Content</a:t>
            </a:r>
          </a:p>
        </p:txBody>
      </p:sp>
      <p:sp>
        <p:nvSpPr>
          <p:cNvPr id="11" name="TextBox 11"/>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Others</a:t>
            </a:r>
          </a:p>
        </p:txBody>
      </p:sp>
      <p:sp>
        <p:nvSpPr>
          <p:cNvPr id="12" name="TextBox 12"/>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13" name="TextBox 13"/>
          <p:cNvSpPr txBox="1"/>
          <p:nvPr/>
        </p:nvSpPr>
        <p:spPr>
          <a:xfrm>
            <a:off x="1028700" y="8817292"/>
            <a:ext cx="5782449" cy="339725"/>
          </a:xfrm>
          <a:prstGeom prst="rect">
            <a:avLst/>
          </a:prstGeom>
        </p:spPr>
        <p:txBody>
          <a:bodyPr lIns="0" tIns="0" rIns="0" bIns="0" rtlCol="0" anchor="t">
            <a:spAutoFit/>
          </a:bodyPr>
          <a:lstStyle/>
          <a:p>
            <a:pPr algn="ctr">
              <a:lnSpc>
                <a:spcPts val="2799"/>
              </a:lnSpc>
            </a:pPr>
            <a:r>
              <a:rPr lang="en-US" sz="1999">
                <a:solidFill>
                  <a:srgbClr val="FFFFFF"/>
                </a:solidFill>
                <a:latin typeface="Open Sauce"/>
                <a:ea typeface="Open Sauce"/>
                <a:cs typeface="Open Sauce"/>
                <a:sym typeface="Open Sauce"/>
              </a:rPr>
              <a:t>Lkhagva-Ochir 202339663</a:t>
            </a:r>
          </a:p>
        </p:txBody>
      </p:sp>
      <p:sp>
        <p:nvSpPr>
          <p:cNvPr id="14" name="TextBox 14"/>
          <p:cNvSpPr txBox="1"/>
          <p:nvPr/>
        </p:nvSpPr>
        <p:spPr>
          <a:xfrm>
            <a:off x="840608" y="2849361"/>
            <a:ext cx="16606783" cy="4416828"/>
          </a:xfrm>
          <a:prstGeom prst="rect">
            <a:avLst/>
          </a:prstGeom>
        </p:spPr>
        <p:txBody>
          <a:bodyPr lIns="0" tIns="0" rIns="0" bIns="0" rtlCol="0" anchor="t">
            <a:spAutoFit/>
          </a:bodyPr>
          <a:lstStyle/>
          <a:p>
            <a:pPr algn="ctr">
              <a:lnSpc>
                <a:spcPts val="11702"/>
              </a:lnSpc>
            </a:pPr>
            <a:r>
              <a:rPr lang="en-US" sz="8359" b="1" spc="192">
                <a:solidFill>
                  <a:srgbClr val="FFFFFF"/>
                </a:solidFill>
                <a:latin typeface="Montserrat Ultra-Bold"/>
                <a:ea typeface="Montserrat Ultra-Bold"/>
                <a:cs typeface="Montserrat Ultra-Bold"/>
                <a:sym typeface="Montserrat Ultra-Bold"/>
              </a:rPr>
              <a:t>PARALLEL PROCESSING IN COMPUTER ARCHITECTURE</a:t>
            </a:r>
          </a:p>
          <a:p>
            <a:pPr marL="0" lvl="0" indent="0" algn="ctr">
              <a:lnSpc>
                <a:spcPts val="11702"/>
              </a:lnSpc>
              <a:spcBef>
                <a:spcPct val="0"/>
              </a:spcBef>
            </a:pPr>
            <a:endParaRPr lang="en-US" sz="8359" b="1" spc="192">
              <a:solidFill>
                <a:srgbClr val="FFFFFF"/>
              </a:solidFill>
              <a:latin typeface="Montserrat Ultra-Bold"/>
              <a:ea typeface="Montserrat Ultra-Bold"/>
              <a:cs typeface="Montserrat Ultra-Bold"/>
              <a:sym typeface="Montserrat Ultra-Bold"/>
            </a:endParaRPr>
          </a:p>
        </p:txBody>
      </p:sp>
      <p:sp>
        <p:nvSpPr>
          <p:cNvPr id="15" name="TextBox 15"/>
          <p:cNvSpPr txBox="1"/>
          <p:nvPr/>
        </p:nvSpPr>
        <p:spPr>
          <a:xfrm>
            <a:off x="11200518" y="8817292"/>
            <a:ext cx="5782449" cy="339725"/>
          </a:xfrm>
          <a:prstGeom prst="rect">
            <a:avLst/>
          </a:prstGeom>
        </p:spPr>
        <p:txBody>
          <a:bodyPr lIns="0" tIns="0" rIns="0" bIns="0" rtlCol="0" anchor="t">
            <a:spAutoFit/>
          </a:bodyPr>
          <a:lstStyle/>
          <a:p>
            <a:pPr algn="ctr">
              <a:lnSpc>
                <a:spcPts val="2799"/>
              </a:lnSpc>
            </a:pPr>
            <a:r>
              <a:rPr lang="en-US" sz="1999">
                <a:solidFill>
                  <a:srgbClr val="FFFFFF"/>
                </a:solidFill>
                <a:latin typeface="Open Sauce"/>
                <a:ea typeface="Open Sauce"/>
                <a:cs typeface="Open Sauce"/>
                <a:sym typeface="Open Sauce"/>
              </a:rPr>
              <a:t>Computer Architecture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MN"/>
          </a:p>
        </p:txBody>
      </p:sp>
      <p:sp>
        <p:nvSpPr>
          <p:cNvPr id="6" name="Freeform 6"/>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4"/>
            <a:stretch>
              <a:fillRect/>
            </a:stretch>
          </a:blipFill>
        </p:spPr>
        <p:txBody>
          <a:bodyPr/>
          <a:lstStyle/>
          <a:p>
            <a:endParaRPr lang="en-MN"/>
          </a:p>
        </p:txBody>
      </p:sp>
      <p:sp>
        <p:nvSpPr>
          <p:cNvPr id="7" name="Freeform 7"/>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5"/>
            <a:stretch>
              <a:fillRect/>
            </a:stretch>
          </a:blipFill>
        </p:spPr>
        <p:txBody>
          <a:bodyPr/>
          <a:lstStyle/>
          <a:p>
            <a:endParaRPr lang="en-MN"/>
          </a:p>
        </p:txBody>
      </p:sp>
      <p:sp>
        <p:nvSpPr>
          <p:cNvPr id="8" name="Freeform 8"/>
          <p:cNvSpPr/>
          <p:nvPr/>
        </p:nvSpPr>
        <p:spPr>
          <a:xfrm>
            <a:off x="2693611" y="2707983"/>
            <a:ext cx="944720" cy="778106"/>
          </a:xfrm>
          <a:custGeom>
            <a:avLst/>
            <a:gdLst/>
            <a:ahLst/>
            <a:cxnLst/>
            <a:rect l="l" t="t" r="r" b="b"/>
            <a:pathLst>
              <a:path w="944720" h="778106">
                <a:moveTo>
                  <a:pt x="0" y="0"/>
                </a:moveTo>
                <a:lnTo>
                  <a:pt x="944720" y="0"/>
                </a:lnTo>
                <a:lnTo>
                  <a:pt x="944720" y="778106"/>
                </a:lnTo>
                <a:lnTo>
                  <a:pt x="0" y="7781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MN"/>
          </a:p>
        </p:txBody>
      </p:sp>
      <p:sp>
        <p:nvSpPr>
          <p:cNvPr id="9" name="Freeform 9"/>
          <p:cNvSpPr/>
          <p:nvPr/>
        </p:nvSpPr>
        <p:spPr>
          <a:xfrm>
            <a:off x="2693611" y="3797557"/>
            <a:ext cx="944720" cy="944720"/>
          </a:xfrm>
          <a:custGeom>
            <a:avLst/>
            <a:gdLst/>
            <a:ahLst/>
            <a:cxnLst/>
            <a:rect l="l" t="t" r="r" b="b"/>
            <a:pathLst>
              <a:path w="944720" h="944720">
                <a:moveTo>
                  <a:pt x="0" y="0"/>
                </a:moveTo>
                <a:lnTo>
                  <a:pt x="944720" y="0"/>
                </a:lnTo>
                <a:lnTo>
                  <a:pt x="944720" y="944720"/>
                </a:lnTo>
                <a:lnTo>
                  <a:pt x="0" y="94472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MN"/>
          </a:p>
        </p:txBody>
      </p:sp>
      <p:sp>
        <p:nvSpPr>
          <p:cNvPr id="10" name="Freeform 10"/>
          <p:cNvSpPr/>
          <p:nvPr/>
        </p:nvSpPr>
        <p:spPr>
          <a:xfrm>
            <a:off x="2693611" y="5053746"/>
            <a:ext cx="944720" cy="958338"/>
          </a:xfrm>
          <a:custGeom>
            <a:avLst/>
            <a:gdLst/>
            <a:ahLst/>
            <a:cxnLst/>
            <a:rect l="l" t="t" r="r" b="b"/>
            <a:pathLst>
              <a:path w="944720" h="958338">
                <a:moveTo>
                  <a:pt x="0" y="0"/>
                </a:moveTo>
                <a:lnTo>
                  <a:pt x="944720" y="0"/>
                </a:lnTo>
                <a:lnTo>
                  <a:pt x="944720" y="958337"/>
                </a:lnTo>
                <a:lnTo>
                  <a:pt x="0" y="95833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MN"/>
          </a:p>
        </p:txBody>
      </p:sp>
      <p:sp>
        <p:nvSpPr>
          <p:cNvPr id="11" name="Freeform 11"/>
          <p:cNvSpPr/>
          <p:nvPr/>
        </p:nvSpPr>
        <p:spPr>
          <a:xfrm>
            <a:off x="2693611" y="6326408"/>
            <a:ext cx="944720" cy="944720"/>
          </a:xfrm>
          <a:custGeom>
            <a:avLst/>
            <a:gdLst/>
            <a:ahLst/>
            <a:cxnLst/>
            <a:rect l="l" t="t" r="r" b="b"/>
            <a:pathLst>
              <a:path w="944720" h="944720">
                <a:moveTo>
                  <a:pt x="0" y="0"/>
                </a:moveTo>
                <a:lnTo>
                  <a:pt x="944720" y="0"/>
                </a:lnTo>
                <a:lnTo>
                  <a:pt x="944720" y="944720"/>
                </a:lnTo>
                <a:lnTo>
                  <a:pt x="0" y="94472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MN"/>
          </a:p>
        </p:txBody>
      </p:sp>
      <p:sp>
        <p:nvSpPr>
          <p:cNvPr id="12" name="Freeform 12"/>
          <p:cNvSpPr/>
          <p:nvPr/>
        </p:nvSpPr>
        <p:spPr>
          <a:xfrm>
            <a:off x="2693611" y="7585453"/>
            <a:ext cx="944720" cy="944720"/>
          </a:xfrm>
          <a:custGeom>
            <a:avLst/>
            <a:gdLst/>
            <a:ahLst/>
            <a:cxnLst/>
            <a:rect l="l" t="t" r="r" b="b"/>
            <a:pathLst>
              <a:path w="944720" h="944720">
                <a:moveTo>
                  <a:pt x="0" y="0"/>
                </a:moveTo>
                <a:lnTo>
                  <a:pt x="944720" y="0"/>
                </a:lnTo>
                <a:lnTo>
                  <a:pt x="944720" y="944720"/>
                </a:lnTo>
                <a:lnTo>
                  <a:pt x="0" y="94472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MN"/>
          </a:p>
        </p:txBody>
      </p:sp>
      <p:sp>
        <p:nvSpPr>
          <p:cNvPr id="13" name="Freeform 13"/>
          <p:cNvSpPr/>
          <p:nvPr/>
        </p:nvSpPr>
        <p:spPr>
          <a:xfrm>
            <a:off x="2693611" y="8844498"/>
            <a:ext cx="944720" cy="836507"/>
          </a:xfrm>
          <a:custGeom>
            <a:avLst/>
            <a:gdLst/>
            <a:ahLst/>
            <a:cxnLst/>
            <a:rect l="l" t="t" r="r" b="b"/>
            <a:pathLst>
              <a:path w="944720" h="836507">
                <a:moveTo>
                  <a:pt x="0" y="0"/>
                </a:moveTo>
                <a:lnTo>
                  <a:pt x="944720" y="0"/>
                </a:lnTo>
                <a:lnTo>
                  <a:pt x="944720" y="836507"/>
                </a:lnTo>
                <a:lnTo>
                  <a:pt x="0" y="836507"/>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MN"/>
          </a:p>
        </p:txBody>
      </p:sp>
      <p:sp>
        <p:nvSpPr>
          <p:cNvPr id="14" name="TextBox 14"/>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Home</a:t>
            </a:r>
          </a:p>
        </p:txBody>
      </p:sp>
      <p:sp>
        <p:nvSpPr>
          <p:cNvPr id="15" name="TextBox 15"/>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About</a:t>
            </a:r>
          </a:p>
        </p:txBody>
      </p:sp>
      <p:sp>
        <p:nvSpPr>
          <p:cNvPr id="16" name="TextBox 16"/>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Content</a:t>
            </a:r>
          </a:p>
        </p:txBody>
      </p:sp>
      <p:sp>
        <p:nvSpPr>
          <p:cNvPr id="17" name="TextBox 17"/>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Others</a:t>
            </a:r>
          </a:p>
        </p:txBody>
      </p:sp>
      <p:sp>
        <p:nvSpPr>
          <p:cNvPr id="18" name="TextBox 18"/>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19" name="TextBox 19"/>
          <p:cNvSpPr txBox="1"/>
          <p:nvPr/>
        </p:nvSpPr>
        <p:spPr>
          <a:xfrm>
            <a:off x="1730951" y="1140717"/>
            <a:ext cx="8259370" cy="986241"/>
          </a:xfrm>
          <a:prstGeom prst="rect">
            <a:avLst/>
          </a:prstGeom>
        </p:spPr>
        <p:txBody>
          <a:bodyPr lIns="0" tIns="0" rIns="0" bIns="0" rtlCol="0" anchor="t">
            <a:spAutoFit/>
          </a:bodyPr>
          <a:lstStyle/>
          <a:p>
            <a:pPr marL="0" lvl="0" indent="0" algn="l">
              <a:lnSpc>
                <a:spcPts val="7704"/>
              </a:lnSpc>
            </a:pPr>
            <a:r>
              <a:rPr lang="en-US" sz="6641" b="1" spc="-312">
                <a:solidFill>
                  <a:srgbClr val="FFFFFF"/>
                </a:solidFill>
                <a:latin typeface="Montserrat Bold"/>
                <a:ea typeface="Montserrat Bold"/>
                <a:cs typeface="Montserrat Bold"/>
                <a:sym typeface="Montserrat Bold"/>
              </a:rPr>
              <a:t>Contents</a:t>
            </a:r>
          </a:p>
        </p:txBody>
      </p:sp>
      <p:sp>
        <p:nvSpPr>
          <p:cNvPr id="20" name="TextBox 20"/>
          <p:cNvSpPr txBox="1"/>
          <p:nvPr/>
        </p:nvSpPr>
        <p:spPr>
          <a:xfrm>
            <a:off x="3944475" y="2765248"/>
            <a:ext cx="2940769" cy="596901"/>
          </a:xfrm>
          <a:prstGeom prst="rect">
            <a:avLst/>
          </a:prstGeom>
        </p:spPr>
        <p:txBody>
          <a:bodyPr lIns="0" tIns="0" rIns="0" bIns="0" rtlCol="0" anchor="t">
            <a:spAutoFit/>
          </a:bodyPr>
          <a:lstStyle/>
          <a:p>
            <a:pPr algn="ctr">
              <a:lnSpc>
                <a:spcPts val="4899"/>
              </a:lnSpc>
              <a:spcBef>
                <a:spcPct val="0"/>
              </a:spcBef>
            </a:pPr>
            <a:r>
              <a:rPr lang="en-US" sz="3499" b="1" spc="6">
                <a:solidFill>
                  <a:srgbClr val="FFFFFF"/>
                </a:solidFill>
                <a:latin typeface="Montserrat Bold"/>
                <a:ea typeface="Montserrat Bold"/>
                <a:cs typeface="Montserrat Bold"/>
                <a:sym typeface="Montserrat Bold"/>
              </a:rPr>
              <a:t>Introduction</a:t>
            </a:r>
          </a:p>
        </p:txBody>
      </p:sp>
      <p:sp>
        <p:nvSpPr>
          <p:cNvPr id="21" name="TextBox 21"/>
          <p:cNvSpPr txBox="1"/>
          <p:nvPr/>
        </p:nvSpPr>
        <p:spPr>
          <a:xfrm>
            <a:off x="3944475" y="3878123"/>
            <a:ext cx="2361605" cy="596901"/>
          </a:xfrm>
          <a:prstGeom prst="rect">
            <a:avLst/>
          </a:prstGeom>
        </p:spPr>
        <p:txBody>
          <a:bodyPr lIns="0" tIns="0" rIns="0" bIns="0" rtlCol="0" anchor="t">
            <a:spAutoFit/>
          </a:bodyPr>
          <a:lstStyle/>
          <a:p>
            <a:pPr algn="ctr">
              <a:lnSpc>
                <a:spcPts val="4899"/>
              </a:lnSpc>
              <a:spcBef>
                <a:spcPct val="0"/>
              </a:spcBef>
            </a:pPr>
            <a:r>
              <a:rPr lang="en-US" sz="3499" b="1" spc="6">
                <a:solidFill>
                  <a:srgbClr val="FFFFFF"/>
                </a:solidFill>
                <a:latin typeface="Montserrat Bold"/>
                <a:ea typeface="Montserrat Bold"/>
                <a:cs typeface="Montserrat Bold"/>
                <a:sym typeface="Montserrat Bold"/>
              </a:rPr>
              <a:t>Operation</a:t>
            </a:r>
          </a:p>
        </p:txBody>
      </p:sp>
      <p:sp>
        <p:nvSpPr>
          <p:cNvPr id="22" name="TextBox 22"/>
          <p:cNvSpPr txBox="1"/>
          <p:nvPr/>
        </p:nvSpPr>
        <p:spPr>
          <a:xfrm>
            <a:off x="3944475" y="5201127"/>
            <a:ext cx="1677070" cy="596901"/>
          </a:xfrm>
          <a:prstGeom prst="rect">
            <a:avLst/>
          </a:prstGeom>
        </p:spPr>
        <p:txBody>
          <a:bodyPr wrap="square" lIns="0" tIns="0" rIns="0" bIns="0" rtlCol="0" anchor="t">
            <a:spAutoFit/>
          </a:bodyPr>
          <a:lstStyle/>
          <a:p>
            <a:pPr algn="ctr">
              <a:lnSpc>
                <a:spcPts val="4899"/>
              </a:lnSpc>
              <a:spcBef>
                <a:spcPct val="0"/>
              </a:spcBef>
            </a:pPr>
            <a:r>
              <a:rPr lang="en-US" sz="3499" b="1" spc="6" dirty="0">
                <a:solidFill>
                  <a:srgbClr val="FFFFFF"/>
                </a:solidFill>
                <a:latin typeface="Montserrat Bold"/>
                <a:ea typeface="Montserrat Bold"/>
                <a:cs typeface="Montserrat Bold"/>
                <a:sym typeface="Montserrat Bold"/>
              </a:rPr>
              <a:t>Types</a:t>
            </a:r>
          </a:p>
        </p:txBody>
      </p:sp>
      <p:sp>
        <p:nvSpPr>
          <p:cNvPr id="23" name="TextBox 23"/>
          <p:cNvSpPr txBox="1"/>
          <p:nvPr/>
        </p:nvSpPr>
        <p:spPr>
          <a:xfrm>
            <a:off x="3944475" y="7733823"/>
            <a:ext cx="1677070" cy="596901"/>
          </a:xfrm>
          <a:prstGeom prst="rect">
            <a:avLst/>
          </a:prstGeom>
        </p:spPr>
        <p:txBody>
          <a:bodyPr lIns="0" tIns="0" rIns="0" bIns="0" rtlCol="0" anchor="t">
            <a:spAutoFit/>
          </a:bodyPr>
          <a:lstStyle/>
          <a:p>
            <a:pPr algn="ctr">
              <a:lnSpc>
                <a:spcPts val="4899"/>
              </a:lnSpc>
              <a:spcBef>
                <a:spcPct val="0"/>
              </a:spcBef>
            </a:pPr>
            <a:r>
              <a:rPr lang="en-US" sz="3499" b="1" spc="6">
                <a:solidFill>
                  <a:srgbClr val="FFFFFF"/>
                </a:solidFill>
                <a:latin typeface="Montserrat Bold"/>
                <a:ea typeface="Montserrat Bold"/>
                <a:cs typeface="Montserrat Bold"/>
                <a:sym typeface="Montserrat Bold"/>
              </a:rPr>
              <a:t>History</a:t>
            </a:r>
          </a:p>
        </p:txBody>
      </p:sp>
      <p:sp>
        <p:nvSpPr>
          <p:cNvPr id="24" name="TextBox 24"/>
          <p:cNvSpPr txBox="1"/>
          <p:nvPr/>
        </p:nvSpPr>
        <p:spPr>
          <a:xfrm>
            <a:off x="3944475" y="6521927"/>
            <a:ext cx="5694313" cy="596901"/>
          </a:xfrm>
          <a:prstGeom prst="rect">
            <a:avLst/>
          </a:prstGeom>
        </p:spPr>
        <p:txBody>
          <a:bodyPr lIns="0" tIns="0" rIns="0" bIns="0" rtlCol="0" anchor="t">
            <a:spAutoFit/>
          </a:bodyPr>
          <a:lstStyle/>
          <a:p>
            <a:pPr algn="ctr">
              <a:lnSpc>
                <a:spcPts val="4899"/>
              </a:lnSpc>
              <a:spcBef>
                <a:spcPct val="0"/>
              </a:spcBef>
            </a:pPr>
            <a:r>
              <a:rPr lang="en-US" sz="3499" b="1" spc="6">
                <a:solidFill>
                  <a:srgbClr val="FFFFFF"/>
                </a:solidFill>
                <a:latin typeface="Montserrat Bold"/>
                <a:ea typeface="Montserrat Bold"/>
                <a:cs typeface="Montserrat Bold"/>
                <a:sym typeface="Montserrat Bold"/>
              </a:rPr>
              <a:t>Benefits and Challenges</a:t>
            </a:r>
          </a:p>
        </p:txBody>
      </p:sp>
      <p:sp>
        <p:nvSpPr>
          <p:cNvPr id="25" name="TextBox 25"/>
          <p:cNvSpPr txBox="1"/>
          <p:nvPr/>
        </p:nvSpPr>
        <p:spPr>
          <a:xfrm>
            <a:off x="3944475" y="8902224"/>
            <a:ext cx="5504325" cy="596901"/>
          </a:xfrm>
          <a:prstGeom prst="rect">
            <a:avLst/>
          </a:prstGeom>
        </p:spPr>
        <p:txBody>
          <a:bodyPr wrap="square" lIns="0" tIns="0" rIns="0" bIns="0" rtlCol="0" anchor="t">
            <a:spAutoFit/>
          </a:bodyPr>
          <a:lstStyle/>
          <a:p>
            <a:pPr>
              <a:lnSpc>
                <a:spcPts val="4899"/>
              </a:lnSpc>
              <a:spcBef>
                <a:spcPct val="0"/>
              </a:spcBef>
            </a:pPr>
            <a:r>
              <a:rPr lang="en-US" sz="3499" b="1" spc="6" dirty="0">
                <a:solidFill>
                  <a:srgbClr val="FFFFFF"/>
                </a:solidFill>
                <a:latin typeface="Montserrat Bold"/>
                <a:ea typeface="Montserrat Bold"/>
                <a:cs typeface="Montserrat Bold"/>
                <a:sym typeface="Montserrat Bold"/>
              </a:rPr>
              <a:t>Real-World example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MN"/>
          </a:p>
        </p:txBody>
      </p:sp>
      <p:sp>
        <p:nvSpPr>
          <p:cNvPr id="6" name="Freeform 6"/>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4"/>
            <a:stretch>
              <a:fillRect/>
            </a:stretch>
          </a:blipFill>
        </p:spPr>
        <p:txBody>
          <a:bodyPr/>
          <a:lstStyle/>
          <a:p>
            <a:endParaRPr lang="en-MN"/>
          </a:p>
        </p:txBody>
      </p:sp>
      <p:sp>
        <p:nvSpPr>
          <p:cNvPr id="7" name="Freeform 7"/>
          <p:cNvSpPr/>
          <p:nvPr/>
        </p:nvSpPr>
        <p:spPr>
          <a:xfrm>
            <a:off x="-7893990" y="-2063137"/>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5"/>
            <a:stretch>
              <a:fillRect/>
            </a:stretch>
          </a:blipFill>
        </p:spPr>
        <p:txBody>
          <a:bodyPr/>
          <a:lstStyle/>
          <a:p>
            <a:endParaRPr lang="en-MN"/>
          </a:p>
        </p:txBody>
      </p:sp>
      <p:sp>
        <p:nvSpPr>
          <p:cNvPr id="8" name="Freeform 8"/>
          <p:cNvSpPr/>
          <p:nvPr/>
        </p:nvSpPr>
        <p:spPr>
          <a:xfrm>
            <a:off x="352065" y="3672570"/>
            <a:ext cx="8626459" cy="3590764"/>
          </a:xfrm>
          <a:custGeom>
            <a:avLst/>
            <a:gdLst/>
            <a:ahLst/>
            <a:cxnLst/>
            <a:rect l="l" t="t" r="r" b="b"/>
            <a:pathLst>
              <a:path w="8626459" h="3590764">
                <a:moveTo>
                  <a:pt x="0" y="0"/>
                </a:moveTo>
                <a:lnTo>
                  <a:pt x="8626460" y="0"/>
                </a:lnTo>
                <a:lnTo>
                  <a:pt x="8626460" y="3590764"/>
                </a:lnTo>
                <a:lnTo>
                  <a:pt x="0" y="3590764"/>
                </a:lnTo>
                <a:lnTo>
                  <a:pt x="0" y="0"/>
                </a:lnTo>
                <a:close/>
              </a:path>
            </a:pathLst>
          </a:custGeom>
          <a:blipFill>
            <a:blip r:embed="rId6"/>
            <a:stretch>
              <a:fillRect/>
            </a:stretch>
          </a:blipFill>
        </p:spPr>
        <p:txBody>
          <a:bodyPr/>
          <a:lstStyle/>
          <a:p>
            <a:endParaRPr lang="en-MN"/>
          </a:p>
        </p:txBody>
      </p:sp>
      <p:sp>
        <p:nvSpPr>
          <p:cNvPr id="9" name="Freeform 9"/>
          <p:cNvSpPr/>
          <p:nvPr/>
        </p:nvSpPr>
        <p:spPr>
          <a:xfrm>
            <a:off x="9329394" y="3672570"/>
            <a:ext cx="8626459" cy="3590764"/>
          </a:xfrm>
          <a:custGeom>
            <a:avLst/>
            <a:gdLst/>
            <a:ahLst/>
            <a:cxnLst/>
            <a:rect l="l" t="t" r="r" b="b"/>
            <a:pathLst>
              <a:path w="8626459" h="3590764">
                <a:moveTo>
                  <a:pt x="0" y="0"/>
                </a:moveTo>
                <a:lnTo>
                  <a:pt x="8626460" y="0"/>
                </a:lnTo>
                <a:lnTo>
                  <a:pt x="8626460" y="3590764"/>
                </a:lnTo>
                <a:lnTo>
                  <a:pt x="0" y="3590764"/>
                </a:lnTo>
                <a:lnTo>
                  <a:pt x="0" y="0"/>
                </a:lnTo>
                <a:close/>
              </a:path>
            </a:pathLst>
          </a:custGeom>
          <a:blipFill>
            <a:blip r:embed="rId7"/>
            <a:stretch>
              <a:fillRect/>
            </a:stretch>
          </a:blipFill>
        </p:spPr>
        <p:txBody>
          <a:bodyPr/>
          <a:lstStyle/>
          <a:p>
            <a:endParaRPr lang="en-MN"/>
          </a:p>
        </p:txBody>
      </p:sp>
      <p:sp>
        <p:nvSpPr>
          <p:cNvPr id="10" name="TextBox 10"/>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Home</a:t>
            </a:r>
          </a:p>
        </p:txBody>
      </p:sp>
      <p:sp>
        <p:nvSpPr>
          <p:cNvPr id="11" name="TextBox 11"/>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About</a:t>
            </a:r>
          </a:p>
        </p:txBody>
      </p:sp>
      <p:sp>
        <p:nvSpPr>
          <p:cNvPr id="12" name="TextBox 12"/>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Content</a:t>
            </a:r>
          </a:p>
        </p:txBody>
      </p:sp>
      <p:sp>
        <p:nvSpPr>
          <p:cNvPr id="13" name="TextBox 13"/>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Others</a:t>
            </a:r>
          </a:p>
        </p:txBody>
      </p:sp>
      <p:sp>
        <p:nvSpPr>
          <p:cNvPr id="14" name="TextBox 14"/>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15" name="TextBox 15"/>
          <p:cNvSpPr txBox="1"/>
          <p:nvPr/>
        </p:nvSpPr>
        <p:spPr>
          <a:xfrm>
            <a:off x="1028700" y="1699239"/>
            <a:ext cx="8259370" cy="986241"/>
          </a:xfrm>
          <a:prstGeom prst="rect">
            <a:avLst/>
          </a:prstGeom>
        </p:spPr>
        <p:txBody>
          <a:bodyPr lIns="0" tIns="0" rIns="0" bIns="0" rtlCol="0" anchor="t">
            <a:spAutoFit/>
          </a:bodyPr>
          <a:lstStyle/>
          <a:p>
            <a:pPr marL="0" lvl="0" indent="0" algn="l">
              <a:lnSpc>
                <a:spcPts val="7704"/>
              </a:lnSpc>
            </a:pPr>
            <a:r>
              <a:rPr lang="en-US" sz="6641" b="1" spc="-312">
                <a:solidFill>
                  <a:srgbClr val="FFFFFF"/>
                </a:solidFill>
                <a:latin typeface="Montserrat Bold"/>
                <a:ea typeface="Montserrat Bold"/>
                <a:cs typeface="Montserrat Bold"/>
                <a:sym typeface="Montserrat Bold"/>
              </a:rPr>
              <a:t>Introduction</a:t>
            </a:r>
          </a:p>
        </p:txBody>
      </p:sp>
      <p:sp>
        <p:nvSpPr>
          <p:cNvPr id="16" name="TextBox 16"/>
          <p:cNvSpPr txBox="1"/>
          <p:nvPr/>
        </p:nvSpPr>
        <p:spPr>
          <a:xfrm>
            <a:off x="352065" y="7586582"/>
            <a:ext cx="6377955" cy="488315"/>
          </a:xfrm>
          <a:prstGeom prst="rect">
            <a:avLst/>
          </a:prstGeom>
        </p:spPr>
        <p:txBody>
          <a:bodyPr lIns="0" tIns="0" rIns="0" bIns="0" rtlCol="0" anchor="t">
            <a:spAutoFit/>
          </a:bodyPr>
          <a:lstStyle/>
          <a:p>
            <a:pPr algn="ctr">
              <a:lnSpc>
                <a:spcPts val="4060"/>
              </a:lnSpc>
            </a:pPr>
            <a:r>
              <a:rPr lang="en-US" sz="2900">
                <a:solidFill>
                  <a:srgbClr val="FFFFFF"/>
                </a:solidFill>
                <a:latin typeface="Montserrat"/>
                <a:ea typeface="Montserrat"/>
                <a:cs typeface="Montserrat"/>
                <a:sym typeface="Montserrat"/>
              </a:rPr>
              <a:t>Serial computing generic example</a:t>
            </a:r>
          </a:p>
        </p:txBody>
      </p:sp>
      <p:sp>
        <p:nvSpPr>
          <p:cNvPr id="17" name="TextBox 17"/>
          <p:cNvSpPr txBox="1"/>
          <p:nvPr/>
        </p:nvSpPr>
        <p:spPr>
          <a:xfrm>
            <a:off x="9329394" y="7586582"/>
            <a:ext cx="8788375" cy="488315"/>
          </a:xfrm>
          <a:prstGeom prst="rect">
            <a:avLst/>
          </a:prstGeom>
        </p:spPr>
        <p:txBody>
          <a:bodyPr lIns="0" tIns="0" rIns="0" bIns="0" rtlCol="0" anchor="t">
            <a:spAutoFit/>
          </a:bodyPr>
          <a:lstStyle/>
          <a:p>
            <a:pPr algn="ctr">
              <a:lnSpc>
                <a:spcPts val="4060"/>
              </a:lnSpc>
            </a:pPr>
            <a:r>
              <a:rPr lang="en-US" sz="2900">
                <a:solidFill>
                  <a:srgbClr val="FFFFFF"/>
                </a:solidFill>
                <a:latin typeface="Montserrat"/>
                <a:ea typeface="Montserrat"/>
                <a:cs typeface="Montserrat"/>
                <a:sym typeface="Montserrat"/>
              </a:rPr>
              <a:t>Serial computing example of processing payroll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MN"/>
          </a:p>
        </p:txBody>
      </p:sp>
      <p:sp>
        <p:nvSpPr>
          <p:cNvPr id="6" name="Freeform 6"/>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4"/>
            <a:stretch>
              <a:fillRect/>
            </a:stretch>
          </a:blipFill>
        </p:spPr>
        <p:txBody>
          <a:bodyPr/>
          <a:lstStyle/>
          <a:p>
            <a:endParaRPr lang="en-MN"/>
          </a:p>
        </p:txBody>
      </p:sp>
      <p:sp>
        <p:nvSpPr>
          <p:cNvPr id="7" name="Freeform 7"/>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5"/>
            <a:stretch>
              <a:fillRect/>
            </a:stretch>
          </a:blipFill>
        </p:spPr>
        <p:txBody>
          <a:bodyPr/>
          <a:lstStyle/>
          <a:p>
            <a:endParaRPr lang="en-MN"/>
          </a:p>
        </p:txBody>
      </p:sp>
      <p:sp>
        <p:nvSpPr>
          <p:cNvPr id="8" name="TextBox 8"/>
          <p:cNvSpPr txBox="1"/>
          <p:nvPr/>
        </p:nvSpPr>
        <p:spPr>
          <a:xfrm>
            <a:off x="695603" y="1358056"/>
            <a:ext cx="8259370" cy="2929341"/>
          </a:xfrm>
          <a:prstGeom prst="rect">
            <a:avLst/>
          </a:prstGeom>
        </p:spPr>
        <p:txBody>
          <a:bodyPr lIns="0" tIns="0" rIns="0" bIns="0" rtlCol="0" anchor="t">
            <a:spAutoFit/>
          </a:bodyPr>
          <a:lstStyle/>
          <a:p>
            <a:pPr algn="l">
              <a:lnSpc>
                <a:spcPts val="7704"/>
              </a:lnSpc>
            </a:pPr>
            <a:r>
              <a:rPr lang="en-US" sz="6641" b="1" spc="-312">
                <a:solidFill>
                  <a:srgbClr val="FFFFFF"/>
                </a:solidFill>
                <a:latin typeface="Montserrat Bold"/>
                <a:ea typeface="Montserrat Bold"/>
                <a:cs typeface="Montserrat Bold"/>
                <a:sym typeface="Montserrat Bold"/>
              </a:rPr>
              <a:t>What is Parallel Processing?</a:t>
            </a:r>
          </a:p>
          <a:p>
            <a:pPr marL="0" lvl="0" indent="0" algn="l">
              <a:lnSpc>
                <a:spcPts val="7704"/>
              </a:lnSpc>
            </a:pPr>
            <a:endParaRPr lang="en-US" sz="6641" b="1" spc="-312">
              <a:solidFill>
                <a:srgbClr val="FFFFFF"/>
              </a:solidFill>
              <a:latin typeface="Montserrat Bold"/>
              <a:ea typeface="Montserrat Bold"/>
              <a:cs typeface="Montserrat Bold"/>
              <a:sym typeface="Montserrat Bold"/>
            </a:endParaRPr>
          </a:p>
        </p:txBody>
      </p:sp>
      <p:sp>
        <p:nvSpPr>
          <p:cNvPr id="9" name="TextBox 9"/>
          <p:cNvSpPr txBox="1"/>
          <p:nvPr/>
        </p:nvSpPr>
        <p:spPr>
          <a:xfrm>
            <a:off x="1026066" y="3813175"/>
            <a:ext cx="7598443" cy="4803775"/>
          </a:xfrm>
          <a:prstGeom prst="rect">
            <a:avLst/>
          </a:prstGeom>
        </p:spPr>
        <p:txBody>
          <a:bodyPr lIns="0" tIns="0" rIns="0" bIns="0" rtlCol="0" anchor="t">
            <a:spAutoFit/>
          </a:bodyPr>
          <a:lstStyle/>
          <a:p>
            <a:pPr algn="just">
              <a:lnSpc>
                <a:spcPts val="3499"/>
              </a:lnSpc>
            </a:pPr>
            <a:r>
              <a:rPr lang="en-US" sz="2499" spc="82">
                <a:solidFill>
                  <a:srgbClr val="FFFFFF"/>
                </a:solidFill>
                <a:latin typeface="Open Sauce Light"/>
                <a:ea typeface="Open Sauce Light"/>
                <a:cs typeface="Open Sauce Light"/>
                <a:sym typeface="Open Sauce Light"/>
              </a:rPr>
              <a:t>Parallel processing is a method in computing of running two or more processors, or </a:t>
            </a:r>
            <a:r>
              <a:rPr lang="en-US" sz="2499" u="sng" spc="82">
                <a:solidFill>
                  <a:srgbClr val="FFFFFF"/>
                </a:solidFill>
                <a:latin typeface="Open Sauce Light"/>
                <a:ea typeface="Open Sauce Light"/>
                <a:cs typeface="Open Sauce Light"/>
                <a:sym typeface="Open Sauce Light"/>
                <a:hlinkClick r:id="rId6" tooltip="https://www.techtarget.com/whatis/definition/processor"/>
              </a:rPr>
              <a:t>CPUs</a:t>
            </a:r>
            <a:r>
              <a:rPr lang="en-US" sz="2499" spc="82">
                <a:solidFill>
                  <a:srgbClr val="FFFFFF"/>
                </a:solidFill>
                <a:latin typeface="Open Sauce Light"/>
                <a:ea typeface="Open Sauce Light"/>
                <a:cs typeface="Open Sauce Light"/>
                <a:sym typeface="Open Sauce Light"/>
              </a:rPr>
              <a:t>, to handle separate parts of an overall task. Breaking up different parts of a task among multiple processors helps reduce the amount of time it takes to run a program. Multi-core processors, frequently found in modern computers, and any system with more than one CPU are capable of performing parallel processing.</a:t>
            </a:r>
          </a:p>
          <a:p>
            <a:pPr algn="just">
              <a:lnSpc>
                <a:spcPts val="3499"/>
              </a:lnSpc>
            </a:pPr>
            <a:endParaRPr lang="en-US" sz="2499" spc="82">
              <a:solidFill>
                <a:srgbClr val="FFFFFF"/>
              </a:solidFill>
              <a:latin typeface="Open Sauce Light"/>
              <a:ea typeface="Open Sauce Light"/>
              <a:cs typeface="Open Sauce Light"/>
              <a:sym typeface="Open Sauce Light"/>
            </a:endParaRPr>
          </a:p>
        </p:txBody>
      </p:sp>
      <p:sp>
        <p:nvSpPr>
          <p:cNvPr id="10" name="Freeform 10"/>
          <p:cNvSpPr/>
          <p:nvPr/>
        </p:nvSpPr>
        <p:spPr>
          <a:xfrm>
            <a:off x="1730951" y="8558410"/>
            <a:ext cx="407672" cy="233485"/>
          </a:xfrm>
          <a:custGeom>
            <a:avLst/>
            <a:gdLst/>
            <a:ahLst/>
            <a:cxnLst/>
            <a:rect l="l" t="t" r="r" b="b"/>
            <a:pathLst>
              <a:path w="407672" h="233485">
                <a:moveTo>
                  <a:pt x="0" y="0"/>
                </a:moveTo>
                <a:lnTo>
                  <a:pt x="407672" y="0"/>
                </a:lnTo>
                <a:lnTo>
                  <a:pt x="407672" y="233485"/>
                </a:lnTo>
                <a:lnTo>
                  <a:pt x="0" y="23348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MN"/>
          </a:p>
        </p:txBody>
      </p:sp>
      <p:sp>
        <p:nvSpPr>
          <p:cNvPr id="11" name="Freeform 11"/>
          <p:cNvSpPr/>
          <p:nvPr/>
        </p:nvSpPr>
        <p:spPr>
          <a:xfrm>
            <a:off x="9144000" y="3283269"/>
            <a:ext cx="8701782" cy="4873874"/>
          </a:xfrm>
          <a:custGeom>
            <a:avLst/>
            <a:gdLst/>
            <a:ahLst/>
            <a:cxnLst/>
            <a:rect l="l" t="t" r="r" b="b"/>
            <a:pathLst>
              <a:path w="8701782" h="4873874">
                <a:moveTo>
                  <a:pt x="0" y="0"/>
                </a:moveTo>
                <a:lnTo>
                  <a:pt x="8701782" y="0"/>
                </a:lnTo>
                <a:lnTo>
                  <a:pt x="8701782" y="4873874"/>
                </a:lnTo>
                <a:lnTo>
                  <a:pt x="0" y="4873874"/>
                </a:lnTo>
                <a:lnTo>
                  <a:pt x="0" y="0"/>
                </a:lnTo>
                <a:close/>
              </a:path>
            </a:pathLst>
          </a:custGeom>
          <a:blipFill>
            <a:blip r:embed="rId9"/>
            <a:stretch>
              <a:fillRect l="-689" r="-1378"/>
            </a:stretch>
          </a:blipFill>
        </p:spPr>
        <p:txBody>
          <a:bodyPr/>
          <a:lstStyle/>
          <a:p>
            <a:endParaRPr lang="en-MN"/>
          </a:p>
        </p:txBody>
      </p:sp>
      <p:sp>
        <p:nvSpPr>
          <p:cNvPr id="12" name="TextBox 12"/>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Home</a:t>
            </a:r>
          </a:p>
        </p:txBody>
      </p:sp>
      <p:sp>
        <p:nvSpPr>
          <p:cNvPr id="13" name="TextBox 13"/>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About</a:t>
            </a:r>
          </a:p>
        </p:txBody>
      </p:sp>
      <p:sp>
        <p:nvSpPr>
          <p:cNvPr id="14" name="TextBox 14"/>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Content</a:t>
            </a:r>
          </a:p>
        </p:txBody>
      </p:sp>
      <p:sp>
        <p:nvSpPr>
          <p:cNvPr id="15" name="TextBox 15"/>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Others</a:t>
            </a:r>
          </a:p>
        </p:txBody>
      </p:sp>
      <p:sp>
        <p:nvSpPr>
          <p:cNvPr id="16" name="TextBox 16"/>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17" name="TextBox 17"/>
          <p:cNvSpPr txBox="1"/>
          <p:nvPr/>
        </p:nvSpPr>
        <p:spPr>
          <a:xfrm>
            <a:off x="9144000" y="8348980"/>
            <a:ext cx="6732240" cy="488315"/>
          </a:xfrm>
          <a:prstGeom prst="rect">
            <a:avLst/>
          </a:prstGeom>
        </p:spPr>
        <p:txBody>
          <a:bodyPr lIns="0" tIns="0" rIns="0" bIns="0" rtlCol="0" anchor="t">
            <a:spAutoFit/>
          </a:bodyPr>
          <a:lstStyle/>
          <a:p>
            <a:pPr algn="ctr">
              <a:lnSpc>
                <a:spcPts val="4060"/>
              </a:lnSpc>
            </a:pPr>
            <a:r>
              <a:rPr lang="en-US" sz="2900">
                <a:solidFill>
                  <a:srgbClr val="FFFFFF"/>
                </a:solidFill>
                <a:latin typeface="Montserrat"/>
                <a:ea typeface="Montserrat"/>
                <a:cs typeface="Montserrat"/>
                <a:sym typeface="Montserrat"/>
              </a:rPr>
              <a:t>Parallel computing generic example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MN"/>
          </a:p>
        </p:txBody>
      </p:sp>
      <p:sp>
        <p:nvSpPr>
          <p:cNvPr id="6" name="TextBox 6"/>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7" name="Freeform 7"/>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4"/>
            <a:stretch>
              <a:fillRect/>
            </a:stretch>
          </a:blipFill>
        </p:spPr>
        <p:txBody>
          <a:bodyPr/>
          <a:lstStyle/>
          <a:p>
            <a:endParaRPr lang="en-MN"/>
          </a:p>
        </p:txBody>
      </p:sp>
      <p:sp>
        <p:nvSpPr>
          <p:cNvPr id="8" name="Freeform 8"/>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5"/>
            <a:stretch>
              <a:fillRect/>
            </a:stretch>
          </a:blipFill>
        </p:spPr>
        <p:txBody>
          <a:bodyPr/>
          <a:lstStyle/>
          <a:p>
            <a:endParaRPr lang="en-MN"/>
          </a:p>
        </p:txBody>
      </p:sp>
      <p:grpSp>
        <p:nvGrpSpPr>
          <p:cNvPr id="9" name="Group 9"/>
          <p:cNvGrpSpPr/>
          <p:nvPr/>
        </p:nvGrpSpPr>
        <p:grpSpPr>
          <a:xfrm>
            <a:off x="850278" y="5093113"/>
            <a:ext cx="3086100" cy="795851"/>
            <a:chOff x="0" y="0"/>
            <a:chExt cx="812800" cy="209607"/>
          </a:xfrm>
        </p:grpSpPr>
        <p:sp>
          <p:nvSpPr>
            <p:cNvPr id="10" name="Freeform 10"/>
            <p:cNvSpPr/>
            <p:nvPr/>
          </p:nvSpPr>
          <p:spPr>
            <a:xfrm>
              <a:off x="0" y="0"/>
              <a:ext cx="812800" cy="209607"/>
            </a:xfrm>
            <a:custGeom>
              <a:avLst/>
              <a:gdLst/>
              <a:ahLst/>
              <a:cxnLst/>
              <a:rect l="l" t="t" r="r" b="b"/>
              <a:pathLst>
                <a:path w="812800" h="209607">
                  <a:moveTo>
                    <a:pt x="0" y="0"/>
                  </a:moveTo>
                  <a:lnTo>
                    <a:pt x="812800" y="0"/>
                  </a:lnTo>
                  <a:lnTo>
                    <a:pt x="812800" y="209607"/>
                  </a:lnTo>
                  <a:lnTo>
                    <a:pt x="0" y="209607"/>
                  </a:lnTo>
                  <a:close/>
                </a:path>
              </a:pathLst>
            </a:custGeom>
            <a:solidFill>
              <a:srgbClr val="175F9F"/>
            </a:solidFill>
          </p:spPr>
          <p:txBody>
            <a:bodyPr/>
            <a:lstStyle/>
            <a:p>
              <a:endParaRPr lang="en-MN"/>
            </a:p>
          </p:txBody>
        </p:sp>
        <p:sp>
          <p:nvSpPr>
            <p:cNvPr id="11" name="TextBox 11"/>
            <p:cNvSpPr txBox="1"/>
            <p:nvPr/>
          </p:nvSpPr>
          <p:spPr>
            <a:xfrm>
              <a:off x="0" y="-47625"/>
              <a:ext cx="812800" cy="257232"/>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Program</a:t>
              </a:r>
            </a:p>
          </p:txBody>
        </p:sp>
      </p:grpSp>
      <p:sp>
        <p:nvSpPr>
          <p:cNvPr id="12" name="TextBox 12"/>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Home</a:t>
            </a:r>
          </a:p>
        </p:txBody>
      </p:sp>
      <p:sp>
        <p:nvSpPr>
          <p:cNvPr id="13" name="TextBox 13"/>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About</a:t>
            </a:r>
          </a:p>
        </p:txBody>
      </p:sp>
      <p:sp>
        <p:nvSpPr>
          <p:cNvPr id="14" name="TextBox 14"/>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Content</a:t>
            </a:r>
          </a:p>
        </p:txBody>
      </p:sp>
      <p:sp>
        <p:nvSpPr>
          <p:cNvPr id="15" name="TextBox 15"/>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Others</a:t>
            </a:r>
          </a:p>
        </p:txBody>
      </p:sp>
      <p:sp>
        <p:nvSpPr>
          <p:cNvPr id="16" name="TextBox 16"/>
          <p:cNvSpPr txBox="1"/>
          <p:nvPr/>
        </p:nvSpPr>
        <p:spPr>
          <a:xfrm>
            <a:off x="948770" y="1410663"/>
            <a:ext cx="6218135" cy="986241"/>
          </a:xfrm>
          <a:prstGeom prst="rect">
            <a:avLst/>
          </a:prstGeom>
        </p:spPr>
        <p:txBody>
          <a:bodyPr lIns="0" tIns="0" rIns="0" bIns="0" rtlCol="0" anchor="t">
            <a:spAutoFit/>
          </a:bodyPr>
          <a:lstStyle/>
          <a:p>
            <a:pPr marL="0" lvl="0" indent="0" algn="just">
              <a:lnSpc>
                <a:spcPts val="7704"/>
              </a:lnSpc>
            </a:pPr>
            <a:r>
              <a:rPr lang="en-US" sz="6641" b="1" spc="-312">
                <a:solidFill>
                  <a:srgbClr val="FFFFFF"/>
                </a:solidFill>
                <a:latin typeface="Montserrat Bold"/>
                <a:ea typeface="Montserrat Bold"/>
                <a:cs typeface="Montserrat Bold"/>
                <a:sym typeface="Montserrat Bold"/>
              </a:rPr>
              <a:t>How it works?</a:t>
            </a:r>
          </a:p>
        </p:txBody>
      </p:sp>
      <p:sp>
        <p:nvSpPr>
          <p:cNvPr id="17" name="TextBox 17"/>
          <p:cNvSpPr txBox="1"/>
          <p:nvPr/>
        </p:nvSpPr>
        <p:spPr>
          <a:xfrm>
            <a:off x="850278" y="2987453"/>
            <a:ext cx="15947307" cy="1353185"/>
          </a:xfrm>
          <a:prstGeom prst="rect">
            <a:avLst/>
          </a:prstGeom>
        </p:spPr>
        <p:txBody>
          <a:bodyPr lIns="0" tIns="0" rIns="0" bIns="0" rtlCol="0" anchor="t">
            <a:spAutoFit/>
          </a:bodyPr>
          <a:lstStyle/>
          <a:p>
            <a:pPr algn="just">
              <a:lnSpc>
                <a:spcPts val="3639"/>
              </a:lnSpc>
            </a:pPr>
            <a:r>
              <a:rPr lang="en-US" sz="2599" spc="85">
                <a:solidFill>
                  <a:srgbClr val="FFFFFF"/>
                </a:solidFill>
                <a:latin typeface="Open Sauce Light"/>
                <a:ea typeface="Open Sauce Light"/>
                <a:cs typeface="Open Sauce Light"/>
                <a:sym typeface="Open Sauce Light"/>
              </a:rPr>
              <a:t>Parallel processing divides a task between two or more microprocessors. Typically, a complex task is divided into multiple parts using a specialized software tool that assigns each part to a processor based on the task's component elements.</a:t>
            </a:r>
          </a:p>
        </p:txBody>
      </p:sp>
      <p:sp>
        <p:nvSpPr>
          <p:cNvPr id="18" name="AutoShape 18"/>
          <p:cNvSpPr/>
          <p:nvPr/>
        </p:nvSpPr>
        <p:spPr>
          <a:xfrm>
            <a:off x="4057837" y="5510089"/>
            <a:ext cx="442574" cy="0"/>
          </a:xfrm>
          <a:prstGeom prst="line">
            <a:avLst/>
          </a:prstGeom>
          <a:ln w="38100" cap="flat">
            <a:solidFill>
              <a:srgbClr val="FFFFFF"/>
            </a:solidFill>
            <a:prstDash val="solid"/>
            <a:headEnd type="none" w="sm" len="sm"/>
            <a:tailEnd type="arrow" w="med" len="sm"/>
          </a:ln>
        </p:spPr>
        <p:txBody>
          <a:bodyPr/>
          <a:lstStyle/>
          <a:p>
            <a:endParaRPr lang="en-MN"/>
          </a:p>
        </p:txBody>
      </p:sp>
      <p:grpSp>
        <p:nvGrpSpPr>
          <p:cNvPr id="19" name="Group 19"/>
          <p:cNvGrpSpPr/>
          <p:nvPr/>
        </p:nvGrpSpPr>
        <p:grpSpPr>
          <a:xfrm>
            <a:off x="4624237" y="5093113"/>
            <a:ext cx="3086100" cy="795851"/>
            <a:chOff x="0" y="0"/>
            <a:chExt cx="812800" cy="209607"/>
          </a:xfrm>
        </p:grpSpPr>
        <p:sp>
          <p:nvSpPr>
            <p:cNvPr id="20" name="Freeform 20"/>
            <p:cNvSpPr/>
            <p:nvPr/>
          </p:nvSpPr>
          <p:spPr>
            <a:xfrm>
              <a:off x="0" y="0"/>
              <a:ext cx="812800" cy="209607"/>
            </a:xfrm>
            <a:custGeom>
              <a:avLst/>
              <a:gdLst/>
              <a:ahLst/>
              <a:cxnLst/>
              <a:rect l="l" t="t" r="r" b="b"/>
              <a:pathLst>
                <a:path w="812800" h="209607">
                  <a:moveTo>
                    <a:pt x="0" y="0"/>
                  </a:moveTo>
                  <a:lnTo>
                    <a:pt x="812800" y="0"/>
                  </a:lnTo>
                  <a:lnTo>
                    <a:pt x="812800" y="209607"/>
                  </a:lnTo>
                  <a:lnTo>
                    <a:pt x="0" y="209607"/>
                  </a:lnTo>
                  <a:close/>
                </a:path>
              </a:pathLst>
            </a:custGeom>
            <a:solidFill>
              <a:srgbClr val="175F9F"/>
            </a:solidFill>
          </p:spPr>
          <p:txBody>
            <a:bodyPr/>
            <a:lstStyle/>
            <a:p>
              <a:endParaRPr lang="en-MN"/>
            </a:p>
          </p:txBody>
        </p:sp>
        <p:sp>
          <p:nvSpPr>
            <p:cNvPr id="21" name="TextBox 21"/>
            <p:cNvSpPr txBox="1"/>
            <p:nvPr/>
          </p:nvSpPr>
          <p:spPr>
            <a:xfrm>
              <a:off x="0" y="-47625"/>
              <a:ext cx="812800" cy="257232"/>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CPU</a:t>
              </a:r>
            </a:p>
          </p:txBody>
        </p:sp>
      </p:grpSp>
      <p:sp>
        <p:nvSpPr>
          <p:cNvPr id="22" name="AutoShape 22"/>
          <p:cNvSpPr/>
          <p:nvPr/>
        </p:nvSpPr>
        <p:spPr>
          <a:xfrm>
            <a:off x="7834162" y="5529139"/>
            <a:ext cx="442574" cy="0"/>
          </a:xfrm>
          <a:prstGeom prst="line">
            <a:avLst/>
          </a:prstGeom>
          <a:ln w="38100" cap="flat">
            <a:solidFill>
              <a:srgbClr val="FFFFFF"/>
            </a:solidFill>
            <a:prstDash val="solid"/>
            <a:headEnd type="none" w="sm" len="sm"/>
            <a:tailEnd type="arrow" w="med" len="sm"/>
          </a:ln>
        </p:spPr>
        <p:txBody>
          <a:bodyPr/>
          <a:lstStyle/>
          <a:p>
            <a:endParaRPr lang="en-MN"/>
          </a:p>
        </p:txBody>
      </p:sp>
      <p:grpSp>
        <p:nvGrpSpPr>
          <p:cNvPr id="23" name="Group 23"/>
          <p:cNvGrpSpPr/>
          <p:nvPr/>
        </p:nvGrpSpPr>
        <p:grpSpPr>
          <a:xfrm>
            <a:off x="8400561" y="5112163"/>
            <a:ext cx="3086100" cy="795851"/>
            <a:chOff x="0" y="0"/>
            <a:chExt cx="812800" cy="209607"/>
          </a:xfrm>
        </p:grpSpPr>
        <p:sp>
          <p:nvSpPr>
            <p:cNvPr id="24" name="Freeform 24"/>
            <p:cNvSpPr/>
            <p:nvPr/>
          </p:nvSpPr>
          <p:spPr>
            <a:xfrm>
              <a:off x="0" y="0"/>
              <a:ext cx="812800" cy="209607"/>
            </a:xfrm>
            <a:custGeom>
              <a:avLst/>
              <a:gdLst/>
              <a:ahLst/>
              <a:cxnLst/>
              <a:rect l="l" t="t" r="r" b="b"/>
              <a:pathLst>
                <a:path w="812800" h="209607">
                  <a:moveTo>
                    <a:pt x="0" y="0"/>
                  </a:moveTo>
                  <a:lnTo>
                    <a:pt x="812800" y="0"/>
                  </a:lnTo>
                  <a:lnTo>
                    <a:pt x="812800" y="209607"/>
                  </a:lnTo>
                  <a:lnTo>
                    <a:pt x="0" y="209607"/>
                  </a:lnTo>
                  <a:close/>
                </a:path>
              </a:pathLst>
            </a:custGeom>
            <a:solidFill>
              <a:srgbClr val="175F9F"/>
            </a:solidFill>
          </p:spPr>
          <p:txBody>
            <a:bodyPr/>
            <a:lstStyle/>
            <a:p>
              <a:endParaRPr lang="en-MN"/>
            </a:p>
          </p:txBody>
        </p:sp>
        <p:sp>
          <p:nvSpPr>
            <p:cNvPr id="25" name="TextBox 25"/>
            <p:cNvSpPr txBox="1"/>
            <p:nvPr/>
          </p:nvSpPr>
          <p:spPr>
            <a:xfrm>
              <a:off x="0" y="-47625"/>
              <a:ext cx="812800" cy="257232"/>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Program</a:t>
              </a:r>
            </a:p>
          </p:txBody>
        </p:sp>
      </p:grpSp>
      <p:sp>
        <p:nvSpPr>
          <p:cNvPr id="26" name="AutoShape 26"/>
          <p:cNvSpPr/>
          <p:nvPr/>
        </p:nvSpPr>
        <p:spPr>
          <a:xfrm>
            <a:off x="11610486" y="5548189"/>
            <a:ext cx="442574" cy="0"/>
          </a:xfrm>
          <a:prstGeom prst="line">
            <a:avLst/>
          </a:prstGeom>
          <a:ln w="38100" cap="flat">
            <a:solidFill>
              <a:srgbClr val="FFFFFF"/>
            </a:solidFill>
            <a:prstDash val="solid"/>
            <a:headEnd type="none" w="sm" len="sm"/>
            <a:tailEnd type="arrow" w="med" len="sm"/>
          </a:ln>
        </p:spPr>
        <p:txBody>
          <a:bodyPr/>
          <a:lstStyle/>
          <a:p>
            <a:endParaRPr lang="en-MN"/>
          </a:p>
        </p:txBody>
      </p:sp>
      <p:grpSp>
        <p:nvGrpSpPr>
          <p:cNvPr id="27" name="Group 27"/>
          <p:cNvGrpSpPr/>
          <p:nvPr/>
        </p:nvGrpSpPr>
        <p:grpSpPr>
          <a:xfrm>
            <a:off x="12176886" y="5093113"/>
            <a:ext cx="3086100" cy="795851"/>
            <a:chOff x="0" y="0"/>
            <a:chExt cx="812800" cy="209607"/>
          </a:xfrm>
        </p:grpSpPr>
        <p:sp>
          <p:nvSpPr>
            <p:cNvPr id="28" name="Freeform 28"/>
            <p:cNvSpPr/>
            <p:nvPr/>
          </p:nvSpPr>
          <p:spPr>
            <a:xfrm>
              <a:off x="0" y="0"/>
              <a:ext cx="812800" cy="209607"/>
            </a:xfrm>
            <a:custGeom>
              <a:avLst/>
              <a:gdLst/>
              <a:ahLst/>
              <a:cxnLst/>
              <a:rect l="l" t="t" r="r" b="b"/>
              <a:pathLst>
                <a:path w="812800" h="209607">
                  <a:moveTo>
                    <a:pt x="0" y="0"/>
                  </a:moveTo>
                  <a:lnTo>
                    <a:pt x="812800" y="0"/>
                  </a:lnTo>
                  <a:lnTo>
                    <a:pt x="812800" y="209607"/>
                  </a:lnTo>
                  <a:lnTo>
                    <a:pt x="0" y="209607"/>
                  </a:lnTo>
                  <a:close/>
                </a:path>
              </a:pathLst>
            </a:custGeom>
            <a:solidFill>
              <a:srgbClr val="175F9F"/>
            </a:solidFill>
          </p:spPr>
          <p:txBody>
            <a:bodyPr/>
            <a:lstStyle/>
            <a:p>
              <a:endParaRPr lang="en-MN"/>
            </a:p>
          </p:txBody>
        </p:sp>
        <p:sp>
          <p:nvSpPr>
            <p:cNvPr id="29" name="TextBox 29"/>
            <p:cNvSpPr txBox="1"/>
            <p:nvPr/>
          </p:nvSpPr>
          <p:spPr>
            <a:xfrm>
              <a:off x="0" y="-47625"/>
              <a:ext cx="812800" cy="257232"/>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CPU</a:t>
              </a:r>
            </a:p>
          </p:txBody>
        </p:sp>
      </p:grpSp>
      <p:sp>
        <p:nvSpPr>
          <p:cNvPr id="30" name="TextBox 30"/>
          <p:cNvSpPr txBox="1"/>
          <p:nvPr/>
        </p:nvSpPr>
        <p:spPr>
          <a:xfrm>
            <a:off x="827140" y="4575571"/>
            <a:ext cx="1848073" cy="438785"/>
          </a:xfrm>
          <a:prstGeom prst="rect">
            <a:avLst/>
          </a:prstGeom>
        </p:spPr>
        <p:txBody>
          <a:bodyPr lIns="0" tIns="0" rIns="0" bIns="0" rtlCol="0" anchor="t">
            <a:spAutoFit/>
          </a:bodyPr>
          <a:lstStyle/>
          <a:p>
            <a:pPr algn="ctr">
              <a:lnSpc>
                <a:spcPts val="3640"/>
              </a:lnSpc>
            </a:pPr>
            <a:r>
              <a:rPr lang="en-US" sz="2600">
                <a:solidFill>
                  <a:srgbClr val="FFFFFF"/>
                </a:solidFill>
                <a:latin typeface="Montserrat"/>
                <a:ea typeface="Montserrat"/>
                <a:cs typeface="Montserrat"/>
                <a:sym typeface="Montserrat"/>
              </a:rPr>
              <a:t>Sequential:</a:t>
            </a:r>
          </a:p>
        </p:txBody>
      </p:sp>
      <p:grpSp>
        <p:nvGrpSpPr>
          <p:cNvPr id="31" name="Group 31"/>
          <p:cNvGrpSpPr/>
          <p:nvPr/>
        </p:nvGrpSpPr>
        <p:grpSpPr>
          <a:xfrm>
            <a:off x="850278" y="7712773"/>
            <a:ext cx="3086100" cy="795851"/>
            <a:chOff x="0" y="0"/>
            <a:chExt cx="812800" cy="209607"/>
          </a:xfrm>
        </p:grpSpPr>
        <p:sp>
          <p:nvSpPr>
            <p:cNvPr id="32" name="Freeform 32"/>
            <p:cNvSpPr/>
            <p:nvPr/>
          </p:nvSpPr>
          <p:spPr>
            <a:xfrm>
              <a:off x="0" y="0"/>
              <a:ext cx="812800" cy="209607"/>
            </a:xfrm>
            <a:custGeom>
              <a:avLst/>
              <a:gdLst/>
              <a:ahLst/>
              <a:cxnLst/>
              <a:rect l="l" t="t" r="r" b="b"/>
              <a:pathLst>
                <a:path w="812800" h="209607">
                  <a:moveTo>
                    <a:pt x="0" y="0"/>
                  </a:moveTo>
                  <a:lnTo>
                    <a:pt x="812800" y="0"/>
                  </a:lnTo>
                  <a:lnTo>
                    <a:pt x="812800" y="209607"/>
                  </a:lnTo>
                  <a:lnTo>
                    <a:pt x="0" y="209607"/>
                  </a:lnTo>
                  <a:close/>
                </a:path>
              </a:pathLst>
            </a:custGeom>
            <a:solidFill>
              <a:srgbClr val="175F9F"/>
            </a:solidFill>
          </p:spPr>
          <p:txBody>
            <a:bodyPr/>
            <a:lstStyle/>
            <a:p>
              <a:endParaRPr lang="en-MN"/>
            </a:p>
          </p:txBody>
        </p:sp>
        <p:sp>
          <p:nvSpPr>
            <p:cNvPr id="33" name="TextBox 33"/>
            <p:cNvSpPr txBox="1"/>
            <p:nvPr/>
          </p:nvSpPr>
          <p:spPr>
            <a:xfrm>
              <a:off x="0" y="-47625"/>
              <a:ext cx="812800" cy="257232"/>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Program</a:t>
              </a:r>
            </a:p>
          </p:txBody>
        </p:sp>
      </p:grpSp>
      <p:sp>
        <p:nvSpPr>
          <p:cNvPr id="34" name="TextBox 34"/>
          <p:cNvSpPr txBox="1"/>
          <p:nvPr/>
        </p:nvSpPr>
        <p:spPr>
          <a:xfrm>
            <a:off x="3799289" y="5984792"/>
            <a:ext cx="949970" cy="438785"/>
          </a:xfrm>
          <a:prstGeom prst="rect">
            <a:avLst/>
          </a:prstGeom>
        </p:spPr>
        <p:txBody>
          <a:bodyPr lIns="0" tIns="0" rIns="0" bIns="0" rtlCol="0" anchor="t">
            <a:spAutoFit/>
          </a:bodyPr>
          <a:lstStyle/>
          <a:p>
            <a:pPr algn="ctr">
              <a:lnSpc>
                <a:spcPts val="3640"/>
              </a:lnSpc>
            </a:pPr>
            <a:r>
              <a:rPr lang="en-US" sz="2600">
                <a:solidFill>
                  <a:srgbClr val="FFFFFF"/>
                </a:solidFill>
                <a:latin typeface="Montserrat"/>
                <a:ea typeface="Montserrat"/>
                <a:cs typeface="Montserrat"/>
                <a:sym typeface="Montserrat"/>
              </a:rPr>
              <a:t>Task 1</a:t>
            </a:r>
          </a:p>
        </p:txBody>
      </p:sp>
      <p:sp>
        <p:nvSpPr>
          <p:cNvPr id="35" name="TextBox 35"/>
          <p:cNvSpPr txBox="1"/>
          <p:nvPr/>
        </p:nvSpPr>
        <p:spPr>
          <a:xfrm>
            <a:off x="11295098" y="5984792"/>
            <a:ext cx="1018356" cy="438785"/>
          </a:xfrm>
          <a:prstGeom prst="rect">
            <a:avLst/>
          </a:prstGeom>
        </p:spPr>
        <p:txBody>
          <a:bodyPr lIns="0" tIns="0" rIns="0" bIns="0" rtlCol="0" anchor="t">
            <a:spAutoFit/>
          </a:bodyPr>
          <a:lstStyle/>
          <a:p>
            <a:pPr algn="ctr">
              <a:lnSpc>
                <a:spcPts val="3640"/>
              </a:lnSpc>
            </a:pPr>
            <a:r>
              <a:rPr lang="en-US" sz="2600">
                <a:solidFill>
                  <a:srgbClr val="FFFFFF"/>
                </a:solidFill>
                <a:latin typeface="Montserrat"/>
                <a:ea typeface="Montserrat"/>
                <a:cs typeface="Montserrat"/>
                <a:sym typeface="Montserrat"/>
              </a:rPr>
              <a:t>Task 2</a:t>
            </a:r>
          </a:p>
        </p:txBody>
      </p:sp>
      <p:sp>
        <p:nvSpPr>
          <p:cNvPr id="36" name="AutoShape 36"/>
          <p:cNvSpPr/>
          <p:nvPr/>
        </p:nvSpPr>
        <p:spPr>
          <a:xfrm>
            <a:off x="15386811" y="5510089"/>
            <a:ext cx="442574" cy="0"/>
          </a:xfrm>
          <a:prstGeom prst="line">
            <a:avLst/>
          </a:prstGeom>
          <a:ln w="38100" cap="flat">
            <a:solidFill>
              <a:srgbClr val="FFFFFF"/>
            </a:solidFill>
            <a:prstDash val="solid"/>
            <a:headEnd type="none" w="sm" len="sm"/>
            <a:tailEnd type="arrow" w="med" len="sm"/>
          </a:ln>
        </p:spPr>
        <p:txBody>
          <a:bodyPr/>
          <a:lstStyle/>
          <a:p>
            <a:endParaRPr lang="en-MN"/>
          </a:p>
        </p:txBody>
      </p:sp>
      <p:grpSp>
        <p:nvGrpSpPr>
          <p:cNvPr id="37" name="Group 37"/>
          <p:cNvGrpSpPr/>
          <p:nvPr/>
        </p:nvGrpSpPr>
        <p:grpSpPr>
          <a:xfrm>
            <a:off x="4624237" y="6737266"/>
            <a:ext cx="3086100" cy="795851"/>
            <a:chOff x="0" y="0"/>
            <a:chExt cx="812800" cy="209607"/>
          </a:xfrm>
        </p:grpSpPr>
        <p:sp>
          <p:nvSpPr>
            <p:cNvPr id="38" name="Freeform 38"/>
            <p:cNvSpPr/>
            <p:nvPr/>
          </p:nvSpPr>
          <p:spPr>
            <a:xfrm>
              <a:off x="0" y="0"/>
              <a:ext cx="812800" cy="209607"/>
            </a:xfrm>
            <a:custGeom>
              <a:avLst/>
              <a:gdLst/>
              <a:ahLst/>
              <a:cxnLst/>
              <a:rect l="l" t="t" r="r" b="b"/>
              <a:pathLst>
                <a:path w="812800" h="209607">
                  <a:moveTo>
                    <a:pt x="0" y="0"/>
                  </a:moveTo>
                  <a:lnTo>
                    <a:pt x="812800" y="0"/>
                  </a:lnTo>
                  <a:lnTo>
                    <a:pt x="812800" y="209607"/>
                  </a:lnTo>
                  <a:lnTo>
                    <a:pt x="0" y="209607"/>
                  </a:lnTo>
                  <a:close/>
                </a:path>
              </a:pathLst>
            </a:custGeom>
            <a:solidFill>
              <a:srgbClr val="175F9F"/>
            </a:solidFill>
          </p:spPr>
          <p:txBody>
            <a:bodyPr/>
            <a:lstStyle/>
            <a:p>
              <a:endParaRPr lang="en-MN"/>
            </a:p>
          </p:txBody>
        </p:sp>
        <p:sp>
          <p:nvSpPr>
            <p:cNvPr id="39" name="TextBox 39"/>
            <p:cNvSpPr txBox="1"/>
            <p:nvPr/>
          </p:nvSpPr>
          <p:spPr>
            <a:xfrm>
              <a:off x="0" y="-47625"/>
              <a:ext cx="812800" cy="257232"/>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CPU (Task 1)</a:t>
              </a:r>
            </a:p>
          </p:txBody>
        </p:sp>
      </p:grpSp>
      <p:grpSp>
        <p:nvGrpSpPr>
          <p:cNvPr id="40" name="Group 40"/>
          <p:cNvGrpSpPr/>
          <p:nvPr/>
        </p:nvGrpSpPr>
        <p:grpSpPr>
          <a:xfrm>
            <a:off x="4624237" y="7712773"/>
            <a:ext cx="3086100" cy="795851"/>
            <a:chOff x="0" y="0"/>
            <a:chExt cx="812800" cy="209607"/>
          </a:xfrm>
        </p:grpSpPr>
        <p:sp>
          <p:nvSpPr>
            <p:cNvPr id="41" name="Freeform 41"/>
            <p:cNvSpPr/>
            <p:nvPr/>
          </p:nvSpPr>
          <p:spPr>
            <a:xfrm>
              <a:off x="0" y="0"/>
              <a:ext cx="812800" cy="209607"/>
            </a:xfrm>
            <a:custGeom>
              <a:avLst/>
              <a:gdLst/>
              <a:ahLst/>
              <a:cxnLst/>
              <a:rect l="l" t="t" r="r" b="b"/>
              <a:pathLst>
                <a:path w="812800" h="209607">
                  <a:moveTo>
                    <a:pt x="0" y="0"/>
                  </a:moveTo>
                  <a:lnTo>
                    <a:pt x="812800" y="0"/>
                  </a:lnTo>
                  <a:lnTo>
                    <a:pt x="812800" y="209607"/>
                  </a:lnTo>
                  <a:lnTo>
                    <a:pt x="0" y="209607"/>
                  </a:lnTo>
                  <a:close/>
                </a:path>
              </a:pathLst>
            </a:custGeom>
            <a:solidFill>
              <a:srgbClr val="175F9F"/>
            </a:solidFill>
          </p:spPr>
          <p:txBody>
            <a:bodyPr/>
            <a:lstStyle/>
            <a:p>
              <a:endParaRPr lang="en-MN"/>
            </a:p>
          </p:txBody>
        </p:sp>
        <p:sp>
          <p:nvSpPr>
            <p:cNvPr id="42" name="TextBox 42"/>
            <p:cNvSpPr txBox="1"/>
            <p:nvPr/>
          </p:nvSpPr>
          <p:spPr>
            <a:xfrm>
              <a:off x="0" y="-47625"/>
              <a:ext cx="812800" cy="257232"/>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CPU (Task 2)</a:t>
              </a:r>
            </a:p>
          </p:txBody>
        </p:sp>
      </p:grpSp>
      <p:grpSp>
        <p:nvGrpSpPr>
          <p:cNvPr id="43" name="Group 43"/>
          <p:cNvGrpSpPr/>
          <p:nvPr/>
        </p:nvGrpSpPr>
        <p:grpSpPr>
          <a:xfrm>
            <a:off x="4624237" y="8689598"/>
            <a:ext cx="3086100" cy="795851"/>
            <a:chOff x="0" y="0"/>
            <a:chExt cx="812800" cy="209607"/>
          </a:xfrm>
        </p:grpSpPr>
        <p:sp>
          <p:nvSpPr>
            <p:cNvPr id="44" name="Freeform 44"/>
            <p:cNvSpPr/>
            <p:nvPr/>
          </p:nvSpPr>
          <p:spPr>
            <a:xfrm>
              <a:off x="0" y="0"/>
              <a:ext cx="812800" cy="209607"/>
            </a:xfrm>
            <a:custGeom>
              <a:avLst/>
              <a:gdLst/>
              <a:ahLst/>
              <a:cxnLst/>
              <a:rect l="l" t="t" r="r" b="b"/>
              <a:pathLst>
                <a:path w="812800" h="209607">
                  <a:moveTo>
                    <a:pt x="0" y="0"/>
                  </a:moveTo>
                  <a:lnTo>
                    <a:pt x="812800" y="0"/>
                  </a:lnTo>
                  <a:lnTo>
                    <a:pt x="812800" y="209607"/>
                  </a:lnTo>
                  <a:lnTo>
                    <a:pt x="0" y="209607"/>
                  </a:lnTo>
                  <a:close/>
                </a:path>
              </a:pathLst>
            </a:custGeom>
            <a:solidFill>
              <a:srgbClr val="175F9F"/>
            </a:solidFill>
          </p:spPr>
          <p:txBody>
            <a:bodyPr/>
            <a:lstStyle/>
            <a:p>
              <a:endParaRPr lang="en-MN"/>
            </a:p>
          </p:txBody>
        </p:sp>
        <p:sp>
          <p:nvSpPr>
            <p:cNvPr id="45" name="TextBox 45"/>
            <p:cNvSpPr txBox="1"/>
            <p:nvPr/>
          </p:nvSpPr>
          <p:spPr>
            <a:xfrm>
              <a:off x="0" y="-47625"/>
              <a:ext cx="812800" cy="257232"/>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CPU (Task 3)</a:t>
              </a:r>
            </a:p>
          </p:txBody>
        </p:sp>
      </p:grpSp>
      <p:grpSp>
        <p:nvGrpSpPr>
          <p:cNvPr id="46" name="Group 46"/>
          <p:cNvGrpSpPr/>
          <p:nvPr/>
        </p:nvGrpSpPr>
        <p:grpSpPr>
          <a:xfrm>
            <a:off x="8398349" y="7712773"/>
            <a:ext cx="3086100" cy="795851"/>
            <a:chOff x="0" y="0"/>
            <a:chExt cx="812800" cy="209607"/>
          </a:xfrm>
        </p:grpSpPr>
        <p:sp>
          <p:nvSpPr>
            <p:cNvPr id="47" name="Freeform 47"/>
            <p:cNvSpPr/>
            <p:nvPr/>
          </p:nvSpPr>
          <p:spPr>
            <a:xfrm>
              <a:off x="0" y="0"/>
              <a:ext cx="812800" cy="209607"/>
            </a:xfrm>
            <a:custGeom>
              <a:avLst/>
              <a:gdLst/>
              <a:ahLst/>
              <a:cxnLst/>
              <a:rect l="l" t="t" r="r" b="b"/>
              <a:pathLst>
                <a:path w="812800" h="209607">
                  <a:moveTo>
                    <a:pt x="0" y="0"/>
                  </a:moveTo>
                  <a:lnTo>
                    <a:pt x="812800" y="0"/>
                  </a:lnTo>
                  <a:lnTo>
                    <a:pt x="812800" y="209607"/>
                  </a:lnTo>
                  <a:lnTo>
                    <a:pt x="0" y="209607"/>
                  </a:lnTo>
                  <a:close/>
                </a:path>
              </a:pathLst>
            </a:custGeom>
            <a:solidFill>
              <a:srgbClr val="175F9F"/>
            </a:solidFill>
          </p:spPr>
          <p:txBody>
            <a:bodyPr/>
            <a:lstStyle/>
            <a:p>
              <a:endParaRPr lang="en-MN"/>
            </a:p>
          </p:txBody>
        </p:sp>
        <p:sp>
          <p:nvSpPr>
            <p:cNvPr id="48" name="TextBox 48"/>
            <p:cNvSpPr txBox="1"/>
            <p:nvPr/>
          </p:nvSpPr>
          <p:spPr>
            <a:xfrm>
              <a:off x="0" y="-47625"/>
              <a:ext cx="812800" cy="257232"/>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Result</a:t>
              </a:r>
            </a:p>
          </p:txBody>
        </p:sp>
      </p:grpSp>
      <p:sp>
        <p:nvSpPr>
          <p:cNvPr id="49" name="AutoShape 49"/>
          <p:cNvSpPr/>
          <p:nvPr/>
        </p:nvSpPr>
        <p:spPr>
          <a:xfrm>
            <a:off x="4059020" y="8091648"/>
            <a:ext cx="442574" cy="0"/>
          </a:xfrm>
          <a:prstGeom prst="line">
            <a:avLst/>
          </a:prstGeom>
          <a:ln w="38100" cap="flat">
            <a:solidFill>
              <a:srgbClr val="FFFFFF"/>
            </a:solidFill>
            <a:prstDash val="solid"/>
            <a:headEnd type="none" w="sm" len="sm"/>
            <a:tailEnd type="arrow" w="med" len="sm"/>
          </a:ln>
        </p:spPr>
        <p:txBody>
          <a:bodyPr/>
          <a:lstStyle/>
          <a:p>
            <a:endParaRPr lang="en-MN"/>
          </a:p>
        </p:txBody>
      </p:sp>
      <p:sp>
        <p:nvSpPr>
          <p:cNvPr id="50" name="AutoShape 50"/>
          <p:cNvSpPr/>
          <p:nvPr/>
        </p:nvSpPr>
        <p:spPr>
          <a:xfrm>
            <a:off x="7831950" y="8110698"/>
            <a:ext cx="442574" cy="0"/>
          </a:xfrm>
          <a:prstGeom prst="line">
            <a:avLst/>
          </a:prstGeom>
          <a:ln w="38100" cap="flat">
            <a:solidFill>
              <a:srgbClr val="FFFFFF"/>
            </a:solidFill>
            <a:prstDash val="solid"/>
            <a:headEnd type="none" w="sm" len="sm"/>
            <a:tailEnd type="arrow" w="med" len="sm"/>
          </a:ln>
        </p:spPr>
        <p:txBody>
          <a:bodyPr/>
          <a:lstStyle/>
          <a:p>
            <a:endParaRPr lang="en-MN"/>
          </a:p>
        </p:txBody>
      </p:sp>
      <p:sp>
        <p:nvSpPr>
          <p:cNvPr id="51" name="TextBox 51"/>
          <p:cNvSpPr txBox="1"/>
          <p:nvPr/>
        </p:nvSpPr>
        <p:spPr>
          <a:xfrm>
            <a:off x="827140" y="6689641"/>
            <a:ext cx="1295028" cy="438785"/>
          </a:xfrm>
          <a:prstGeom prst="rect">
            <a:avLst/>
          </a:prstGeom>
        </p:spPr>
        <p:txBody>
          <a:bodyPr lIns="0" tIns="0" rIns="0" bIns="0" rtlCol="0" anchor="t">
            <a:spAutoFit/>
          </a:bodyPr>
          <a:lstStyle/>
          <a:p>
            <a:pPr algn="ctr">
              <a:lnSpc>
                <a:spcPts val="3640"/>
              </a:lnSpc>
            </a:pPr>
            <a:r>
              <a:rPr lang="en-US" sz="2600">
                <a:solidFill>
                  <a:srgbClr val="FFFFFF"/>
                </a:solidFill>
                <a:latin typeface="Montserrat"/>
                <a:ea typeface="Montserrat"/>
                <a:cs typeface="Montserrat"/>
                <a:sym typeface="Montserrat"/>
              </a:rPr>
              <a:t>Parallel: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MN"/>
          </a:p>
        </p:txBody>
      </p:sp>
      <p:sp>
        <p:nvSpPr>
          <p:cNvPr id="6" name="Freeform 6"/>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4"/>
            <a:stretch>
              <a:fillRect/>
            </a:stretch>
          </a:blipFill>
        </p:spPr>
        <p:txBody>
          <a:bodyPr/>
          <a:lstStyle/>
          <a:p>
            <a:endParaRPr lang="en-MN"/>
          </a:p>
        </p:txBody>
      </p:sp>
      <p:sp>
        <p:nvSpPr>
          <p:cNvPr id="7" name="Freeform 7"/>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5"/>
            <a:stretch>
              <a:fillRect/>
            </a:stretch>
          </a:blipFill>
        </p:spPr>
        <p:txBody>
          <a:bodyPr/>
          <a:lstStyle/>
          <a:p>
            <a:endParaRPr lang="en-MN"/>
          </a:p>
        </p:txBody>
      </p:sp>
      <p:sp>
        <p:nvSpPr>
          <p:cNvPr id="8" name="Freeform 8"/>
          <p:cNvSpPr/>
          <p:nvPr/>
        </p:nvSpPr>
        <p:spPr>
          <a:xfrm>
            <a:off x="1730951" y="8558410"/>
            <a:ext cx="407672" cy="233485"/>
          </a:xfrm>
          <a:custGeom>
            <a:avLst/>
            <a:gdLst/>
            <a:ahLst/>
            <a:cxnLst/>
            <a:rect l="l" t="t" r="r" b="b"/>
            <a:pathLst>
              <a:path w="407672" h="233485">
                <a:moveTo>
                  <a:pt x="0" y="0"/>
                </a:moveTo>
                <a:lnTo>
                  <a:pt x="407672" y="0"/>
                </a:lnTo>
                <a:lnTo>
                  <a:pt x="407672" y="233485"/>
                </a:lnTo>
                <a:lnTo>
                  <a:pt x="0" y="2334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MN"/>
          </a:p>
        </p:txBody>
      </p:sp>
      <p:grpSp>
        <p:nvGrpSpPr>
          <p:cNvPr id="9" name="Group 9"/>
          <p:cNvGrpSpPr/>
          <p:nvPr/>
        </p:nvGrpSpPr>
        <p:grpSpPr>
          <a:xfrm>
            <a:off x="6348486" y="2841020"/>
            <a:ext cx="5591027" cy="826015"/>
            <a:chOff x="0" y="0"/>
            <a:chExt cx="1472534" cy="217551"/>
          </a:xfrm>
        </p:grpSpPr>
        <p:sp>
          <p:nvSpPr>
            <p:cNvPr id="10" name="Freeform 10"/>
            <p:cNvSpPr/>
            <p:nvPr/>
          </p:nvSpPr>
          <p:spPr>
            <a:xfrm>
              <a:off x="0" y="0"/>
              <a:ext cx="1472534" cy="217551"/>
            </a:xfrm>
            <a:custGeom>
              <a:avLst/>
              <a:gdLst/>
              <a:ahLst/>
              <a:cxnLst/>
              <a:rect l="l" t="t" r="r" b="b"/>
              <a:pathLst>
                <a:path w="1472534" h="217551">
                  <a:moveTo>
                    <a:pt x="0" y="0"/>
                  </a:moveTo>
                  <a:lnTo>
                    <a:pt x="1472534" y="0"/>
                  </a:lnTo>
                  <a:lnTo>
                    <a:pt x="1472534" y="217551"/>
                  </a:lnTo>
                  <a:lnTo>
                    <a:pt x="0" y="217551"/>
                  </a:lnTo>
                  <a:close/>
                </a:path>
              </a:pathLst>
            </a:custGeom>
            <a:solidFill>
              <a:srgbClr val="175F9F"/>
            </a:solidFill>
          </p:spPr>
          <p:txBody>
            <a:bodyPr/>
            <a:lstStyle/>
            <a:p>
              <a:endParaRPr lang="en-MN"/>
            </a:p>
          </p:txBody>
        </p:sp>
        <p:sp>
          <p:nvSpPr>
            <p:cNvPr id="11" name="TextBox 11"/>
            <p:cNvSpPr txBox="1"/>
            <p:nvPr/>
          </p:nvSpPr>
          <p:spPr>
            <a:xfrm>
              <a:off x="0" y="-47625"/>
              <a:ext cx="1472534" cy="265176"/>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Single Instruction, Single Data (SISD)</a:t>
              </a:r>
            </a:p>
          </p:txBody>
        </p:sp>
      </p:grpSp>
      <p:sp>
        <p:nvSpPr>
          <p:cNvPr id="12" name="TextBox 12"/>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Home</a:t>
            </a:r>
          </a:p>
        </p:txBody>
      </p:sp>
      <p:sp>
        <p:nvSpPr>
          <p:cNvPr id="13" name="TextBox 13"/>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About</a:t>
            </a:r>
          </a:p>
        </p:txBody>
      </p:sp>
      <p:sp>
        <p:nvSpPr>
          <p:cNvPr id="14" name="TextBox 14"/>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Content</a:t>
            </a:r>
          </a:p>
        </p:txBody>
      </p:sp>
      <p:sp>
        <p:nvSpPr>
          <p:cNvPr id="15" name="TextBox 15"/>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Others</a:t>
            </a:r>
          </a:p>
        </p:txBody>
      </p:sp>
      <p:sp>
        <p:nvSpPr>
          <p:cNvPr id="16" name="TextBox 16"/>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17" name="TextBox 17"/>
          <p:cNvSpPr txBox="1"/>
          <p:nvPr/>
        </p:nvSpPr>
        <p:spPr>
          <a:xfrm>
            <a:off x="1280219" y="1397967"/>
            <a:ext cx="15727561" cy="986241"/>
          </a:xfrm>
          <a:prstGeom prst="rect">
            <a:avLst/>
          </a:prstGeom>
        </p:spPr>
        <p:txBody>
          <a:bodyPr lIns="0" tIns="0" rIns="0" bIns="0" rtlCol="0" anchor="t">
            <a:spAutoFit/>
          </a:bodyPr>
          <a:lstStyle/>
          <a:p>
            <a:pPr marL="0" lvl="0" indent="0" algn="l">
              <a:lnSpc>
                <a:spcPts val="7704"/>
              </a:lnSpc>
            </a:pPr>
            <a:r>
              <a:rPr lang="en-US" sz="6641" b="1" spc="-312">
                <a:solidFill>
                  <a:srgbClr val="FFFFFF"/>
                </a:solidFill>
                <a:latin typeface="Montserrat Bold"/>
                <a:ea typeface="Montserrat Bold"/>
                <a:cs typeface="Montserrat Bold"/>
                <a:sym typeface="Montserrat Bold"/>
              </a:rPr>
              <a:t>Different types of parallel processing</a:t>
            </a:r>
          </a:p>
        </p:txBody>
      </p:sp>
      <p:grpSp>
        <p:nvGrpSpPr>
          <p:cNvPr id="18" name="Group 18"/>
          <p:cNvGrpSpPr/>
          <p:nvPr/>
        </p:nvGrpSpPr>
        <p:grpSpPr>
          <a:xfrm>
            <a:off x="6348486" y="3990885"/>
            <a:ext cx="5591027" cy="826015"/>
            <a:chOff x="0" y="0"/>
            <a:chExt cx="1472534" cy="217551"/>
          </a:xfrm>
        </p:grpSpPr>
        <p:sp>
          <p:nvSpPr>
            <p:cNvPr id="19" name="Freeform 19"/>
            <p:cNvSpPr/>
            <p:nvPr/>
          </p:nvSpPr>
          <p:spPr>
            <a:xfrm>
              <a:off x="0" y="0"/>
              <a:ext cx="1472534" cy="217551"/>
            </a:xfrm>
            <a:custGeom>
              <a:avLst/>
              <a:gdLst/>
              <a:ahLst/>
              <a:cxnLst/>
              <a:rect l="l" t="t" r="r" b="b"/>
              <a:pathLst>
                <a:path w="1472534" h="217551">
                  <a:moveTo>
                    <a:pt x="0" y="0"/>
                  </a:moveTo>
                  <a:lnTo>
                    <a:pt x="1472534" y="0"/>
                  </a:lnTo>
                  <a:lnTo>
                    <a:pt x="1472534" y="217551"/>
                  </a:lnTo>
                  <a:lnTo>
                    <a:pt x="0" y="217551"/>
                  </a:lnTo>
                  <a:close/>
                </a:path>
              </a:pathLst>
            </a:custGeom>
            <a:solidFill>
              <a:srgbClr val="175F9F"/>
            </a:solidFill>
          </p:spPr>
          <p:txBody>
            <a:bodyPr/>
            <a:lstStyle/>
            <a:p>
              <a:endParaRPr lang="en-MN"/>
            </a:p>
          </p:txBody>
        </p:sp>
        <p:sp>
          <p:nvSpPr>
            <p:cNvPr id="20" name="TextBox 20"/>
            <p:cNvSpPr txBox="1"/>
            <p:nvPr/>
          </p:nvSpPr>
          <p:spPr>
            <a:xfrm>
              <a:off x="0" y="-47625"/>
              <a:ext cx="1472534" cy="265176"/>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Multiple Instruction, Single Data (MISD)</a:t>
              </a:r>
            </a:p>
          </p:txBody>
        </p:sp>
      </p:grpSp>
      <p:grpSp>
        <p:nvGrpSpPr>
          <p:cNvPr id="21" name="Group 21"/>
          <p:cNvGrpSpPr/>
          <p:nvPr/>
        </p:nvGrpSpPr>
        <p:grpSpPr>
          <a:xfrm>
            <a:off x="6348486" y="5140750"/>
            <a:ext cx="5591027" cy="826015"/>
            <a:chOff x="0" y="0"/>
            <a:chExt cx="1472534" cy="217551"/>
          </a:xfrm>
        </p:grpSpPr>
        <p:sp>
          <p:nvSpPr>
            <p:cNvPr id="22" name="Freeform 22"/>
            <p:cNvSpPr/>
            <p:nvPr/>
          </p:nvSpPr>
          <p:spPr>
            <a:xfrm>
              <a:off x="0" y="0"/>
              <a:ext cx="1472534" cy="217551"/>
            </a:xfrm>
            <a:custGeom>
              <a:avLst/>
              <a:gdLst/>
              <a:ahLst/>
              <a:cxnLst/>
              <a:rect l="l" t="t" r="r" b="b"/>
              <a:pathLst>
                <a:path w="1472534" h="217551">
                  <a:moveTo>
                    <a:pt x="0" y="0"/>
                  </a:moveTo>
                  <a:lnTo>
                    <a:pt x="1472534" y="0"/>
                  </a:lnTo>
                  <a:lnTo>
                    <a:pt x="1472534" y="217551"/>
                  </a:lnTo>
                  <a:lnTo>
                    <a:pt x="0" y="217551"/>
                  </a:lnTo>
                  <a:close/>
                </a:path>
              </a:pathLst>
            </a:custGeom>
            <a:solidFill>
              <a:srgbClr val="175F9F"/>
            </a:solidFill>
          </p:spPr>
          <p:txBody>
            <a:bodyPr/>
            <a:lstStyle/>
            <a:p>
              <a:endParaRPr lang="en-MN"/>
            </a:p>
          </p:txBody>
        </p:sp>
        <p:sp>
          <p:nvSpPr>
            <p:cNvPr id="23" name="TextBox 23"/>
            <p:cNvSpPr txBox="1"/>
            <p:nvPr/>
          </p:nvSpPr>
          <p:spPr>
            <a:xfrm>
              <a:off x="0" y="-47625"/>
              <a:ext cx="1472534" cy="265176"/>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Single Instruction, Multiple Data (SIMD)</a:t>
              </a:r>
            </a:p>
          </p:txBody>
        </p:sp>
      </p:grpSp>
      <p:grpSp>
        <p:nvGrpSpPr>
          <p:cNvPr id="24" name="Group 24"/>
          <p:cNvGrpSpPr/>
          <p:nvPr/>
        </p:nvGrpSpPr>
        <p:grpSpPr>
          <a:xfrm>
            <a:off x="6348486" y="6290615"/>
            <a:ext cx="5591027" cy="826015"/>
            <a:chOff x="0" y="0"/>
            <a:chExt cx="1472534" cy="217551"/>
          </a:xfrm>
        </p:grpSpPr>
        <p:sp>
          <p:nvSpPr>
            <p:cNvPr id="25" name="Freeform 25"/>
            <p:cNvSpPr/>
            <p:nvPr/>
          </p:nvSpPr>
          <p:spPr>
            <a:xfrm>
              <a:off x="0" y="0"/>
              <a:ext cx="1472534" cy="217551"/>
            </a:xfrm>
            <a:custGeom>
              <a:avLst/>
              <a:gdLst/>
              <a:ahLst/>
              <a:cxnLst/>
              <a:rect l="l" t="t" r="r" b="b"/>
              <a:pathLst>
                <a:path w="1472534" h="217551">
                  <a:moveTo>
                    <a:pt x="0" y="0"/>
                  </a:moveTo>
                  <a:lnTo>
                    <a:pt x="1472534" y="0"/>
                  </a:lnTo>
                  <a:lnTo>
                    <a:pt x="1472534" y="217551"/>
                  </a:lnTo>
                  <a:lnTo>
                    <a:pt x="0" y="217551"/>
                  </a:lnTo>
                  <a:close/>
                </a:path>
              </a:pathLst>
            </a:custGeom>
            <a:solidFill>
              <a:srgbClr val="175F9F"/>
            </a:solidFill>
          </p:spPr>
          <p:txBody>
            <a:bodyPr/>
            <a:lstStyle/>
            <a:p>
              <a:endParaRPr lang="en-MN"/>
            </a:p>
          </p:txBody>
        </p:sp>
        <p:sp>
          <p:nvSpPr>
            <p:cNvPr id="26" name="TextBox 26"/>
            <p:cNvSpPr txBox="1"/>
            <p:nvPr/>
          </p:nvSpPr>
          <p:spPr>
            <a:xfrm>
              <a:off x="0" y="-47625"/>
              <a:ext cx="1472534" cy="265176"/>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Multiple Instruction, Multiple Data (MIMD)</a:t>
              </a:r>
            </a:p>
          </p:txBody>
        </p:sp>
      </p:grpSp>
      <p:grpSp>
        <p:nvGrpSpPr>
          <p:cNvPr id="27" name="Group 27"/>
          <p:cNvGrpSpPr/>
          <p:nvPr/>
        </p:nvGrpSpPr>
        <p:grpSpPr>
          <a:xfrm>
            <a:off x="6348486" y="7440480"/>
            <a:ext cx="5591027" cy="826015"/>
            <a:chOff x="0" y="0"/>
            <a:chExt cx="1472534" cy="217551"/>
          </a:xfrm>
        </p:grpSpPr>
        <p:sp>
          <p:nvSpPr>
            <p:cNvPr id="28" name="Freeform 28"/>
            <p:cNvSpPr/>
            <p:nvPr/>
          </p:nvSpPr>
          <p:spPr>
            <a:xfrm>
              <a:off x="0" y="0"/>
              <a:ext cx="1472534" cy="217551"/>
            </a:xfrm>
            <a:custGeom>
              <a:avLst/>
              <a:gdLst/>
              <a:ahLst/>
              <a:cxnLst/>
              <a:rect l="l" t="t" r="r" b="b"/>
              <a:pathLst>
                <a:path w="1472534" h="217551">
                  <a:moveTo>
                    <a:pt x="0" y="0"/>
                  </a:moveTo>
                  <a:lnTo>
                    <a:pt x="1472534" y="0"/>
                  </a:lnTo>
                  <a:lnTo>
                    <a:pt x="1472534" y="217551"/>
                  </a:lnTo>
                  <a:lnTo>
                    <a:pt x="0" y="217551"/>
                  </a:lnTo>
                  <a:close/>
                </a:path>
              </a:pathLst>
            </a:custGeom>
            <a:solidFill>
              <a:srgbClr val="175F9F"/>
            </a:solidFill>
          </p:spPr>
          <p:txBody>
            <a:bodyPr/>
            <a:lstStyle/>
            <a:p>
              <a:endParaRPr lang="en-MN"/>
            </a:p>
          </p:txBody>
        </p:sp>
        <p:sp>
          <p:nvSpPr>
            <p:cNvPr id="29" name="TextBox 29"/>
            <p:cNvSpPr txBox="1"/>
            <p:nvPr/>
          </p:nvSpPr>
          <p:spPr>
            <a:xfrm>
              <a:off x="0" y="-47625"/>
              <a:ext cx="1472534" cy="265176"/>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Single Program, Multiple Data (SPMD)</a:t>
              </a:r>
            </a:p>
          </p:txBody>
        </p:sp>
      </p:grpSp>
      <p:grpSp>
        <p:nvGrpSpPr>
          <p:cNvPr id="30" name="Group 30"/>
          <p:cNvGrpSpPr/>
          <p:nvPr/>
        </p:nvGrpSpPr>
        <p:grpSpPr>
          <a:xfrm>
            <a:off x="6348486" y="8590346"/>
            <a:ext cx="5591027" cy="826015"/>
            <a:chOff x="0" y="0"/>
            <a:chExt cx="1472534" cy="217551"/>
          </a:xfrm>
        </p:grpSpPr>
        <p:sp>
          <p:nvSpPr>
            <p:cNvPr id="31" name="Freeform 31"/>
            <p:cNvSpPr/>
            <p:nvPr/>
          </p:nvSpPr>
          <p:spPr>
            <a:xfrm>
              <a:off x="0" y="0"/>
              <a:ext cx="1472534" cy="217551"/>
            </a:xfrm>
            <a:custGeom>
              <a:avLst/>
              <a:gdLst/>
              <a:ahLst/>
              <a:cxnLst/>
              <a:rect l="l" t="t" r="r" b="b"/>
              <a:pathLst>
                <a:path w="1472534" h="217551">
                  <a:moveTo>
                    <a:pt x="0" y="0"/>
                  </a:moveTo>
                  <a:lnTo>
                    <a:pt x="1472534" y="0"/>
                  </a:lnTo>
                  <a:lnTo>
                    <a:pt x="1472534" y="217551"/>
                  </a:lnTo>
                  <a:lnTo>
                    <a:pt x="0" y="217551"/>
                  </a:lnTo>
                  <a:close/>
                </a:path>
              </a:pathLst>
            </a:custGeom>
            <a:solidFill>
              <a:srgbClr val="175F9F"/>
            </a:solidFill>
          </p:spPr>
          <p:txBody>
            <a:bodyPr/>
            <a:lstStyle/>
            <a:p>
              <a:endParaRPr lang="en-MN"/>
            </a:p>
          </p:txBody>
        </p:sp>
        <p:sp>
          <p:nvSpPr>
            <p:cNvPr id="32" name="TextBox 32"/>
            <p:cNvSpPr txBox="1"/>
            <p:nvPr/>
          </p:nvSpPr>
          <p:spPr>
            <a:xfrm>
              <a:off x="0" y="-47625"/>
              <a:ext cx="1472534" cy="265176"/>
            </a:xfrm>
            <a:prstGeom prst="rect">
              <a:avLst/>
            </a:prstGeom>
          </p:spPr>
          <p:txBody>
            <a:bodyPr lIns="50800" tIns="50800" rIns="50800" bIns="50800" rtlCol="0" anchor="ctr"/>
            <a:lstStyle/>
            <a:p>
              <a:pPr algn="ctr">
                <a:lnSpc>
                  <a:spcPts val="2940"/>
                </a:lnSpc>
              </a:pPr>
              <a:r>
                <a:rPr lang="en-US" sz="2100" spc="4">
                  <a:solidFill>
                    <a:srgbClr val="FFFFFF"/>
                  </a:solidFill>
                  <a:latin typeface="Open Sauce"/>
                  <a:ea typeface="Open Sauce"/>
                  <a:cs typeface="Open Sauce"/>
                  <a:sym typeface="Open Sauce"/>
                </a:rPr>
                <a:t>Massively Parallel Processing (MPP)</a:t>
              </a:r>
            </a:p>
          </p:txBody>
        </p:sp>
      </p:grpSp>
      <p:sp>
        <p:nvSpPr>
          <p:cNvPr id="33" name="TextBox 33"/>
          <p:cNvSpPr txBox="1"/>
          <p:nvPr/>
        </p:nvSpPr>
        <p:spPr>
          <a:xfrm>
            <a:off x="1028700" y="5477558"/>
            <a:ext cx="4562992" cy="573406"/>
          </a:xfrm>
          <a:prstGeom prst="rect">
            <a:avLst/>
          </a:prstGeom>
        </p:spPr>
        <p:txBody>
          <a:bodyPr lIns="0" tIns="0" rIns="0" bIns="0" rtlCol="0" anchor="t">
            <a:spAutoFit/>
          </a:bodyPr>
          <a:lstStyle/>
          <a:p>
            <a:pPr marL="0" lvl="0" indent="0" algn="ctr">
              <a:lnSpc>
                <a:spcPts val="4619"/>
              </a:lnSpc>
              <a:spcBef>
                <a:spcPct val="0"/>
              </a:spcBef>
            </a:pPr>
            <a:r>
              <a:rPr lang="en-US" sz="3299" b="1" spc="6">
                <a:solidFill>
                  <a:srgbClr val="FFFFFF"/>
                </a:solidFill>
                <a:latin typeface="Open Sauce Bold"/>
                <a:ea typeface="Open Sauce Bold"/>
                <a:cs typeface="Open Sauce Bold"/>
                <a:sym typeface="Open Sauce Bold"/>
              </a:rPr>
              <a:t>Flynn’s Taxonomy: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MN"/>
          </a:p>
        </p:txBody>
      </p:sp>
      <p:sp>
        <p:nvSpPr>
          <p:cNvPr id="6" name="Freeform 6"/>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4"/>
            <a:stretch>
              <a:fillRect/>
            </a:stretch>
          </a:blipFill>
        </p:spPr>
        <p:txBody>
          <a:bodyPr/>
          <a:lstStyle/>
          <a:p>
            <a:endParaRPr lang="en-MN"/>
          </a:p>
        </p:txBody>
      </p:sp>
      <p:sp>
        <p:nvSpPr>
          <p:cNvPr id="7" name="Freeform 7"/>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5"/>
            <a:stretch>
              <a:fillRect/>
            </a:stretch>
          </a:blipFill>
        </p:spPr>
        <p:txBody>
          <a:bodyPr/>
          <a:lstStyle/>
          <a:p>
            <a:endParaRPr lang="en-MN"/>
          </a:p>
        </p:txBody>
      </p:sp>
      <p:sp>
        <p:nvSpPr>
          <p:cNvPr id="8" name="TextBox 8"/>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Home</a:t>
            </a:r>
          </a:p>
        </p:txBody>
      </p:sp>
      <p:sp>
        <p:nvSpPr>
          <p:cNvPr id="9" name="TextBox 9"/>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About</a:t>
            </a:r>
          </a:p>
        </p:txBody>
      </p:sp>
      <p:sp>
        <p:nvSpPr>
          <p:cNvPr id="10" name="TextBox 10"/>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Content</a:t>
            </a:r>
          </a:p>
        </p:txBody>
      </p:sp>
      <p:sp>
        <p:nvSpPr>
          <p:cNvPr id="11" name="TextBox 11"/>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Others</a:t>
            </a:r>
          </a:p>
        </p:txBody>
      </p:sp>
      <p:sp>
        <p:nvSpPr>
          <p:cNvPr id="12" name="TextBox 12"/>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13" name="TextBox 13"/>
          <p:cNvSpPr txBox="1"/>
          <p:nvPr/>
        </p:nvSpPr>
        <p:spPr>
          <a:xfrm>
            <a:off x="1028700" y="1817004"/>
            <a:ext cx="7598443" cy="438785"/>
          </a:xfrm>
          <a:prstGeom prst="rect">
            <a:avLst/>
          </a:prstGeom>
        </p:spPr>
        <p:txBody>
          <a:bodyPr lIns="0" tIns="0" rIns="0" bIns="0" rtlCol="0" anchor="t">
            <a:spAutoFit/>
          </a:bodyPr>
          <a:lstStyle/>
          <a:p>
            <a:pPr marL="561339" lvl="1" indent="-280669" algn="just">
              <a:lnSpc>
                <a:spcPts val="3639"/>
              </a:lnSpc>
              <a:buAutoNum type="arabicPeriod"/>
            </a:pPr>
            <a:r>
              <a:rPr lang="en-US" sz="2599" b="1" spc="85">
                <a:solidFill>
                  <a:srgbClr val="FFFFFF"/>
                </a:solidFill>
                <a:latin typeface="Open Sauce Bold"/>
                <a:ea typeface="Open Sauce Bold"/>
                <a:cs typeface="Open Sauce Bold"/>
                <a:sym typeface="Open Sauce Bold"/>
              </a:rPr>
              <a:t> Single Instruction, Single Data (SISD)</a:t>
            </a:r>
          </a:p>
        </p:txBody>
      </p:sp>
      <p:sp>
        <p:nvSpPr>
          <p:cNvPr id="14" name="TextBox 14"/>
          <p:cNvSpPr txBox="1"/>
          <p:nvPr/>
        </p:nvSpPr>
        <p:spPr>
          <a:xfrm>
            <a:off x="653490" y="2422773"/>
            <a:ext cx="15947307" cy="1353185"/>
          </a:xfrm>
          <a:prstGeom prst="rect">
            <a:avLst/>
          </a:prstGeom>
        </p:spPr>
        <p:txBody>
          <a:bodyPr lIns="0" tIns="0" rIns="0" bIns="0" rtlCol="0" anchor="t">
            <a:spAutoFit/>
          </a:bodyPr>
          <a:lstStyle/>
          <a:p>
            <a:pPr algn="just">
              <a:lnSpc>
                <a:spcPts val="3639"/>
              </a:lnSpc>
            </a:pPr>
            <a:r>
              <a:rPr lang="en-US" sz="2599" spc="85">
                <a:solidFill>
                  <a:srgbClr val="FFFFFF"/>
                </a:solidFill>
                <a:latin typeface="Open Sauce Light"/>
                <a:ea typeface="Open Sauce Light"/>
                <a:cs typeface="Open Sauce Light"/>
                <a:sym typeface="Open Sauce Light"/>
              </a:rPr>
              <a:t>A single processor is responsible for simultaneously managing a single algorithm as a single data source. A computer organization having a control unit, a processing unit, and a memory unit is represented by SISD. </a:t>
            </a:r>
          </a:p>
        </p:txBody>
      </p:sp>
      <p:sp>
        <p:nvSpPr>
          <p:cNvPr id="15" name="TextBox 15"/>
          <p:cNvSpPr txBox="1"/>
          <p:nvPr/>
        </p:nvSpPr>
        <p:spPr>
          <a:xfrm>
            <a:off x="1316785" y="4382549"/>
            <a:ext cx="7598443" cy="438785"/>
          </a:xfrm>
          <a:prstGeom prst="rect">
            <a:avLst/>
          </a:prstGeom>
        </p:spPr>
        <p:txBody>
          <a:bodyPr lIns="0" tIns="0" rIns="0" bIns="0" rtlCol="0" anchor="t">
            <a:spAutoFit/>
          </a:bodyPr>
          <a:lstStyle/>
          <a:p>
            <a:pPr algn="just">
              <a:lnSpc>
                <a:spcPts val="3639"/>
              </a:lnSpc>
            </a:pPr>
            <a:r>
              <a:rPr lang="en-US" sz="2599" b="1" spc="85">
                <a:solidFill>
                  <a:srgbClr val="FFFFFF"/>
                </a:solidFill>
                <a:latin typeface="Open Sauce Bold"/>
                <a:ea typeface="Open Sauce Bold"/>
                <a:cs typeface="Open Sauce Bold"/>
                <a:sym typeface="Open Sauce Bold"/>
              </a:rPr>
              <a:t>2. Multiple Instruction, Single Data (MISD)</a:t>
            </a:r>
          </a:p>
        </p:txBody>
      </p:sp>
      <p:sp>
        <p:nvSpPr>
          <p:cNvPr id="16" name="TextBox 16"/>
          <p:cNvSpPr txBox="1"/>
          <p:nvPr/>
        </p:nvSpPr>
        <p:spPr>
          <a:xfrm>
            <a:off x="653490" y="4992784"/>
            <a:ext cx="15947307" cy="1353185"/>
          </a:xfrm>
          <a:prstGeom prst="rect">
            <a:avLst/>
          </a:prstGeom>
        </p:spPr>
        <p:txBody>
          <a:bodyPr lIns="0" tIns="0" rIns="0" bIns="0" rtlCol="0" anchor="t">
            <a:spAutoFit/>
          </a:bodyPr>
          <a:lstStyle/>
          <a:p>
            <a:pPr algn="just">
              <a:lnSpc>
                <a:spcPts val="3639"/>
              </a:lnSpc>
            </a:pPr>
            <a:r>
              <a:rPr lang="en-US" sz="2599" spc="85">
                <a:solidFill>
                  <a:srgbClr val="FFFFFF"/>
                </a:solidFill>
                <a:latin typeface="Open Sauce Light"/>
                <a:ea typeface="Open Sauce Light"/>
                <a:cs typeface="Open Sauce Light"/>
                <a:sym typeface="Open Sauce Light"/>
              </a:rPr>
              <a:t>Multiple processors are standard in computers that use the Multiple Instruction, Single Data (MISD) instruction set. While using several algorithms, all processors share the same input data. MISD computers can simultaneously perform many operations on the same batch of data.</a:t>
            </a:r>
          </a:p>
        </p:txBody>
      </p:sp>
      <p:sp>
        <p:nvSpPr>
          <p:cNvPr id="17" name="TextBox 17"/>
          <p:cNvSpPr txBox="1"/>
          <p:nvPr/>
        </p:nvSpPr>
        <p:spPr>
          <a:xfrm>
            <a:off x="1316785" y="6955569"/>
            <a:ext cx="7598443" cy="438785"/>
          </a:xfrm>
          <a:prstGeom prst="rect">
            <a:avLst/>
          </a:prstGeom>
        </p:spPr>
        <p:txBody>
          <a:bodyPr lIns="0" tIns="0" rIns="0" bIns="0" rtlCol="0" anchor="t">
            <a:spAutoFit/>
          </a:bodyPr>
          <a:lstStyle/>
          <a:p>
            <a:pPr algn="just">
              <a:lnSpc>
                <a:spcPts val="3639"/>
              </a:lnSpc>
            </a:pPr>
            <a:r>
              <a:rPr lang="en-US" sz="2599" b="1" spc="85">
                <a:solidFill>
                  <a:srgbClr val="FFFFFF"/>
                </a:solidFill>
                <a:latin typeface="Open Sauce Bold"/>
                <a:ea typeface="Open Sauce Bold"/>
                <a:cs typeface="Open Sauce Bold"/>
                <a:sym typeface="Open Sauce Bold"/>
              </a:rPr>
              <a:t>3. Single Instruction, Multiple Data (SIMD)</a:t>
            </a:r>
          </a:p>
        </p:txBody>
      </p:sp>
      <p:sp>
        <p:nvSpPr>
          <p:cNvPr id="18" name="TextBox 18"/>
          <p:cNvSpPr txBox="1"/>
          <p:nvPr/>
        </p:nvSpPr>
        <p:spPr>
          <a:xfrm>
            <a:off x="695603" y="7565804"/>
            <a:ext cx="15947307" cy="2267585"/>
          </a:xfrm>
          <a:prstGeom prst="rect">
            <a:avLst/>
          </a:prstGeom>
        </p:spPr>
        <p:txBody>
          <a:bodyPr lIns="0" tIns="0" rIns="0" bIns="0" rtlCol="0" anchor="t">
            <a:spAutoFit/>
          </a:bodyPr>
          <a:lstStyle/>
          <a:p>
            <a:pPr algn="just">
              <a:lnSpc>
                <a:spcPts val="3639"/>
              </a:lnSpc>
            </a:pPr>
            <a:r>
              <a:rPr lang="en-US" sz="2599" spc="85">
                <a:solidFill>
                  <a:srgbClr val="FFFFFF"/>
                </a:solidFill>
                <a:latin typeface="Open Sauce Light"/>
                <a:ea typeface="Open Sauce Light"/>
                <a:cs typeface="Open Sauce Light"/>
                <a:sym typeface="Open Sauce Light"/>
              </a:rPr>
              <a:t>Computers that use the Single Instruction, Multiple Data (SIMD) architecture have multiple processors that carry out identical instructions. However, each processor supplies the instructions with its unique collection of data. SIMD computers apply the same algorithm to several data sets. The SIMD architecture has numerous processing components. </a:t>
            </a:r>
          </a:p>
          <a:p>
            <a:pPr algn="just">
              <a:lnSpc>
                <a:spcPts val="3639"/>
              </a:lnSpc>
            </a:pPr>
            <a:endParaRPr lang="en-US" sz="2599" spc="85">
              <a:solidFill>
                <a:srgbClr val="FFFFFF"/>
              </a:solidFill>
              <a:latin typeface="Open Sauce Light"/>
              <a:ea typeface="Open Sauce Light"/>
              <a:cs typeface="Open Sauce Light"/>
              <a:sym typeface="Open Sauce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MN"/>
          </a:p>
        </p:txBody>
      </p:sp>
      <p:sp>
        <p:nvSpPr>
          <p:cNvPr id="6" name="Freeform 6"/>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4"/>
            <a:stretch>
              <a:fillRect/>
            </a:stretch>
          </a:blipFill>
        </p:spPr>
        <p:txBody>
          <a:bodyPr/>
          <a:lstStyle/>
          <a:p>
            <a:endParaRPr lang="en-MN"/>
          </a:p>
        </p:txBody>
      </p:sp>
      <p:sp>
        <p:nvSpPr>
          <p:cNvPr id="7" name="Freeform 7"/>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5"/>
            <a:stretch>
              <a:fillRect/>
            </a:stretch>
          </a:blipFill>
        </p:spPr>
        <p:txBody>
          <a:bodyPr/>
          <a:lstStyle/>
          <a:p>
            <a:endParaRPr lang="en-MN"/>
          </a:p>
        </p:txBody>
      </p:sp>
      <p:sp>
        <p:nvSpPr>
          <p:cNvPr id="8" name="TextBox 8"/>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Home</a:t>
            </a:r>
          </a:p>
        </p:txBody>
      </p:sp>
      <p:sp>
        <p:nvSpPr>
          <p:cNvPr id="9" name="TextBox 9"/>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About</a:t>
            </a:r>
          </a:p>
        </p:txBody>
      </p:sp>
      <p:sp>
        <p:nvSpPr>
          <p:cNvPr id="10" name="TextBox 10"/>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Content</a:t>
            </a:r>
          </a:p>
        </p:txBody>
      </p:sp>
      <p:sp>
        <p:nvSpPr>
          <p:cNvPr id="11" name="TextBox 11"/>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Others</a:t>
            </a:r>
          </a:p>
        </p:txBody>
      </p:sp>
      <p:sp>
        <p:nvSpPr>
          <p:cNvPr id="12" name="TextBox 12"/>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13" name="TextBox 13"/>
          <p:cNvSpPr txBox="1"/>
          <p:nvPr/>
        </p:nvSpPr>
        <p:spPr>
          <a:xfrm>
            <a:off x="1316785" y="1812537"/>
            <a:ext cx="8728486" cy="438785"/>
          </a:xfrm>
          <a:prstGeom prst="rect">
            <a:avLst/>
          </a:prstGeom>
        </p:spPr>
        <p:txBody>
          <a:bodyPr lIns="0" tIns="0" rIns="0" bIns="0" rtlCol="0" anchor="t">
            <a:spAutoFit/>
          </a:bodyPr>
          <a:lstStyle/>
          <a:p>
            <a:pPr algn="just">
              <a:lnSpc>
                <a:spcPts val="3639"/>
              </a:lnSpc>
            </a:pPr>
            <a:r>
              <a:rPr lang="en-US" sz="2599" b="1" spc="85">
                <a:solidFill>
                  <a:srgbClr val="FFFFFF"/>
                </a:solidFill>
                <a:latin typeface="Montserrat Bold"/>
                <a:ea typeface="Montserrat Bold"/>
                <a:cs typeface="Montserrat Bold"/>
                <a:sym typeface="Montserrat Bold"/>
              </a:rPr>
              <a:t>4. Multiple Instruction, Multiple Data (MIMD)</a:t>
            </a:r>
          </a:p>
        </p:txBody>
      </p:sp>
      <p:sp>
        <p:nvSpPr>
          <p:cNvPr id="14" name="TextBox 14"/>
          <p:cNvSpPr txBox="1"/>
          <p:nvPr/>
        </p:nvSpPr>
        <p:spPr>
          <a:xfrm>
            <a:off x="653490" y="2422773"/>
            <a:ext cx="15947307" cy="1810385"/>
          </a:xfrm>
          <a:prstGeom prst="rect">
            <a:avLst/>
          </a:prstGeom>
        </p:spPr>
        <p:txBody>
          <a:bodyPr lIns="0" tIns="0" rIns="0" bIns="0" rtlCol="0" anchor="t">
            <a:spAutoFit/>
          </a:bodyPr>
          <a:lstStyle/>
          <a:p>
            <a:pPr algn="just">
              <a:lnSpc>
                <a:spcPts val="3639"/>
              </a:lnSpc>
            </a:pPr>
            <a:r>
              <a:rPr lang="en-US" sz="2599" spc="85">
                <a:solidFill>
                  <a:srgbClr val="FFFFFF"/>
                </a:solidFill>
                <a:latin typeface="Open Sauce Light"/>
                <a:ea typeface="Open Sauce Light"/>
                <a:cs typeface="Open Sauce Light"/>
                <a:sym typeface="Open Sauce Light"/>
              </a:rPr>
              <a:t>Multiple Instruction, Multiple Data, or MIMD, computers are characterized by the presence of multiple processors, each capable of independently accepting its instruction stream. These kinds of computers have many processors. Additionally, each CPU draws data from a different data stream. A MIMD computer is capable of running many tasks simultaneously.</a:t>
            </a:r>
          </a:p>
        </p:txBody>
      </p:sp>
      <p:sp>
        <p:nvSpPr>
          <p:cNvPr id="15" name="TextBox 15"/>
          <p:cNvSpPr txBox="1"/>
          <p:nvPr/>
        </p:nvSpPr>
        <p:spPr>
          <a:xfrm>
            <a:off x="1316785" y="4661189"/>
            <a:ext cx="7598443" cy="438785"/>
          </a:xfrm>
          <a:prstGeom prst="rect">
            <a:avLst/>
          </a:prstGeom>
        </p:spPr>
        <p:txBody>
          <a:bodyPr lIns="0" tIns="0" rIns="0" bIns="0" rtlCol="0" anchor="t">
            <a:spAutoFit/>
          </a:bodyPr>
          <a:lstStyle/>
          <a:p>
            <a:pPr algn="just">
              <a:lnSpc>
                <a:spcPts val="3639"/>
              </a:lnSpc>
            </a:pPr>
            <a:r>
              <a:rPr lang="en-US" sz="2599" b="1" spc="85">
                <a:solidFill>
                  <a:srgbClr val="FFFFFF"/>
                </a:solidFill>
                <a:latin typeface="Montserrat Bold"/>
                <a:ea typeface="Montserrat Bold"/>
                <a:cs typeface="Montserrat Bold"/>
                <a:sym typeface="Montserrat Bold"/>
              </a:rPr>
              <a:t>5. Single Program, Multiple Data (SPMD)</a:t>
            </a:r>
          </a:p>
        </p:txBody>
      </p:sp>
      <p:sp>
        <p:nvSpPr>
          <p:cNvPr id="16" name="TextBox 16"/>
          <p:cNvSpPr txBox="1"/>
          <p:nvPr/>
        </p:nvSpPr>
        <p:spPr>
          <a:xfrm>
            <a:off x="653490" y="5271424"/>
            <a:ext cx="15947307" cy="895985"/>
          </a:xfrm>
          <a:prstGeom prst="rect">
            <a:avLst/>
          </a:prstGeom>
        </p:spPr>
        <p:txBody>
          <a:bodyPr lIns="0" tIns="0" rIns="0" bIns="0" rtlCol="0" anchor="t">
            <a:spAutoFit/>
          </a:bodyPr>
          <a:lstStyle/>
          <a:p>
            <a:pPr algn="just">
              <a:lnSpc>
                <a:spcPts val="3639"/>
              </a:lnSpc>
            </a:pPr>
            <a:r>
              <a:rPr lang="en-US" sz="2599" spc="85">
                <a:solidFill>
                  <a:srgbClr val="FFFFFF"/>
                </a:solidFill>
                <a:latin typeface="Open Sauce Light"/>
                <a:ea typeface="Open Sauce Light"/>
                <a:cs typeface="Open Sauce Light"/>
                <a:sym typeface="Open Sauce Light"/>
              </a:rPr>
              <a:t>SPMD systems are a subset of MIMD. Although an SPMD computer is constructed similarly to a MIMD, each of its processors is responsible for carrying out the same instructions.</a:t>
            </a:r>
          </a:p>
        </p:txBody>
      </p:sp>
      <p:sp>
        <p:nvSpPr>
          <p:cNvPr id="17" name="TextBox 17"/>
          <p:cNvSpPr txBox="1"/>
          <p:nvPr/>
        </p:nvSpPr>
        <p:spPr>
          <a:xfrm>
            <a:off x="1316785" y="6596035"/>
            <a:ext cx="7598443" cy="438785"/>
          </a:xfrm>
          <a:prstGeom prst="rect">
            <a:avLst/>
          </a:prstGeom>
        </p:spPr>
        <p:txBody>
          <a:bodyPr lIns="0" tIns="0" rIns="0" bIns="0" rtlCol="0" anchor="t">
            <a:spAutoFit/>
          </a:bodyPr>
          <a:lstStyle/>
          <a:p>
            <a:pPr algn="just">
              <a:lnSpc>
                <a:spcPts val="3639"/>
              </a:lnSpc>
            </a:pPr>
            <a:r>
              <a:rPr lang="en-US" sz="2599" b="1" spc="85">
                <a:solidFill>
                  <a:srgbClr val="FFFFFF"/>
                </a:solidFill>
                <a:latin typeface="Montserrat Bold"/>
                <a:ea typeface="Montserrat Bold"/>
                <a:cs typeface="Montserrat Bold"/>
                <a:sym typeface="Montserrat Bold"/>
              </a:rPr>
              <a:t>6. Massively Parallel Processing (MPP)</a:t>
            </a:r>
          </a:p>
        </p:txBody>
      </p:sp>
      <p:sp>
        <p:nvSpPr>
          <p:cNvPr id="18" name="TextBox 18"/>
          <p:cNvSpPr txBox="1"/>
          <p:nvPr/>
        </p:nvSpPr>
        <p:spPr>
          <a:xfrm>
            <a:off x="695603" y="7206270"/>
            <a:ext cx="15947307" cy="1810385"/>
          </a:xfrm>
          <a:prstGeom prst="rect">
            <a:avLst/>
          </a:prstGeom>
        </p:spPr>
        <p:txBody>
          <a:bodyPr lIns="0" tIns="0" rIns="0" bIns="0" rtlCol="0" anchor="t">
            <a:spAutoFit/>
          </a:bodyPr>
          <a:lstStyle/>
          <a:p>
            <a:pPr algn="just">
              <a:lnSpc>
                <a:spcPts val="3639"/>
              </a:lnSpc>
            </a:pPr>
            <a:r>
              <a:rPr lang="en-US" sz="2599" spc="85">
                <a:solidFill>
                  <a:srgbClr val="FFFFFF"/>
                </a:solidFill>
                <a:latin typeface="Open Sauce Light"/>
                <a:ea typeface="Open Sauce Light"/>
                <a:cs typeface="Open Sauce Light"/>
                <a:sym typeface="Open Sauce Light"/>
              </a:rPr>
              <a:t>A storage structure called Massively Parallel Processing (MPP) is made to manage the coordinated execution of program operations by numerous processors. With each CPU using its operating system and memory, this coordinated processing can be applied to different program sections.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MN"/>
          </a:p>
        </p:txBody>
      </p:sp>
      <p:sp>
        <p:nvSpPr>
          <p:cNvPr id="6" name="Freeform 6"/>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4"/>
            <a:stretch>
              <a:fillRect/>
            </a:stretch>
          </a:blipFill>
        </p:spPr>
        <p:txBody>
          <a:bodyPr/>
          <a:lstStyle/>
          <a:p>
            <a:endParaRPr lang="en-MN"/>
          </a:p>
        </p:txBody>
      </p:sp>
      <p:sp>
        <p:nvSpPr>
          <p:cNvPr id="7" name="Freeform 7"/>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5"/>
            <a:stretch>
              <a:fillRect/>
            </a:stretch>
          </a:blipFill>
        </p:spPr>
        <p:txBody>
          <a:bodyPr/>
          <a:lstStyle/>
          <a:p>
            <a:endParaRPr lang="en-MN"/>
          </a:p>
        </p:txBody>
      </p:sp>
      <p:graphicFrame>
        <p:nvGraphicFramePr>
          <p:cNvPr id="8" name="Table 8"/>
          <p:cNvGraphicFramePr>
            <a:graphicFrameLocks noGrp="1"/>
          </p:cNvGraphicFramePr>
          <p:nvPr/>
        </p:nvGraphicFramePr>
        <p:xfrm>
          <a:off x="499151" y="2667487"/>
          <a:ext cx="17289697" cy="7200900"/>
        </p:xfrm>
        <a:graphic>
          <a:graphicData uri="http://schemas.openxmlformats.org/drawingml/2006/table">
            <a:tbl>
              <a:tblPr/>
              <a:tblGrid>
                <a:gridCol w="6073381">
                  <a:extLst>
                    <a:ext uri="{9D8B030D-6E8A-4147-A177-3AD203B41FA5}">
                      <a16:colId xmlns:a16="http://schemas.microsoft.com/office/drawing/2014/main" val="20000"/>
                    </a:ext>
                  </a:extLst>
                </a:gridCol>
                <a:gridCol w="11216316">
                  <a:extLst>
                    <a:ext uri="{9D8B030D-6E8A-4147-A177-3AD203B41FA5}">
                      <a16:colId xmlns:a16="http://schemas.microsoft.com/office/drawing/2014/main" val="20001"/>
                    </a:ext>
                  </a:extLst>
                </a:gridCol>
              </a:tblGrid>
              <a:tr h="1800225">
                <a:tc>
                  <a:txBody>
                    <a:bodyPr/>
                    <a:lstStyle/>
                    <a:p>
                      <a:pPr algn="l">
                        <a:lnSpc>
                          <a:spcPts val="3499"/>
                        </a:lnSpc>
                        <a:defRPr/>
                      </a:pPr>
                      <a:r>
                        <a:rPr lang="en-US" sz="2499" b="1">
                          <a:solidFill>
                            <a:srgbClr val="FFFFFF"/>
                          </a:solidFill>
                          <a:latin typeface="Montserrat Bold"/>
                          <a:ea typeface="Montserrat Bold"/>
                          <a:cs typeface="Montserrat Bold"/>
                          <a:sym typeface="Montserrat Bold"/>
                        </a:rPr>
                        <a:t>Increased Speed and Efficiency:</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9"/>
                        </a:lnSpc>
                        <a:defRPr/>
                      </a:pPr>
                      <a:r>
                        <a:rPr lang="en-US" sz="2499">
                          <a:solidFill>
                            <a:srgbClr val="FFFFFF"/>
                          </a:solidFill>
                          <a:latin typeface="Montserrat"/>
                          <a:ea typeface="Montserrat"/>
                          <a:cs typeface="Montserrat"/>
                          <a:sym typeface="Montserrat"/>
                        </a:rPr>
                        <a:t>By dividing tasks into smaller parts and executing them concurrently, parallel processing significantly reduces overall execution time, leading to faster results.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800225">
                <a:tc>
                  <a:txBody>
                    <a:bodyPr/>
                    <a:lstStyle/>
                    <a:p>
                      <a:pPr algn="ctr">
                        <a:lnSpc>
                          <a:spcPts val="3499"/>
                        </a:lnSpc>
                        <a:defRPr/>
                      </a:pPr>
                      <a:r>
                        <a:rPr lang="en-US" sz="2499" b="1">
                          <a:solidFill>
                            <a:srgbClr val="FFFFFF"/>
                          </a:solidFill>
                          <a:latin typeface="Montserrat Bold"/>
                          <a:ea typeface="Montserrat Bold"/>
                          <a:cs typeface="Montserrat Bold"/>
                          <a:sym typeface="Montserrat Bold"/>
                        </a:rPr>
                        <a:t>Enhanced Performance: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9"/>
                        </a:lnSpc>
                        <a:defRPr/>
                      </a:pPr>
                      <a:r>
                        <a:rPr lang="en-US" sz="2499">
                          <a:solidFill>
                            <a:srgbClr val="FFFFFF"/>
                          </a:solidFill>
                          <a:latin typeface="Montserrat"/>
                          <a:ea typeface="Montserrat"/>
                          <a:cs typeface="Montserrat"/>
                          <a:sym typeface="Montserrat"/>
                        </a:rPr>
                        <a:t>Parallel processing can improve the performance of applications, especially those that involve large datasets or complex calculations, such as scientific simulations, machine learning, and data analysis.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800225">
                <a:tc>
                  <a:txBody>
                    <a:bodyPr/>
                    <a:lstStyle/>
                    <a:p>
                      <a:pPr algn="ctr">
                        <a:lnSpc>
                          <a:spcPts val="3499"/>
                        </a:lnSpc>
                        <a:defRPr/>
                      </a:pPr>
                      <a:r>
                        <a:rPr lang="en-US" sz="2499" b="1">
                          <a:solidFill>
                            <a:srgbClr val="FFFFFF"/>
                          </a:solidFill>
                          <a:latin typeface="Montserrat Bold"/>
                          <a:ea typeface="Montserrat Bold"/>
                          <a:cs typeface="Montserrat Bold"/>
                          <a:sym typeface="Montserrat Bold"/>
                        </a:rPr>
                        <a:t>Improved Responsiveness: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9"/>
                        </a:lnSpc>
                        <a:defRPr/>
                      </a:pPr>
                      <a:r>
                        <a:rPr lang="en-US" sz="2499">
                          <a:solidFill>
                            <a:srgbClr val="FFFFFF"/>
                          </a:solidFill>
                          <a:latin typeface="Montserrat"/>
                          <a:ea typeface="Montserrat"/>
                          <a:cs typeface="Montserrat"/>
                          <a:sym typeface="Montserrat"/>
                        </a:rPr>
                        <a:t>Parallel processing can make applications more responsive, especially in scenarios where multiple tasks need to be handled simultaneously, such as in graphical user interfaces (GUIs).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800225">
                <a:tc>
                  <a:txBody>
                    <a:bodyPr/>
                    <a:lstStyle/>
                    <a:p>
                      <a:pPr algn="ctr">
                        <a:lnSpc>
                          <a:spcPts val="3499"/>
                        </a:lnSpc>
                        <a:defRPr/>
                      </a:pPr>
                      <a:r>
                        <a:rPr lang="en-US" sz="2499" b="1">
                          <a:solidFill>
                            <a:srgbClr val="FFFFFF"/>
                          </a:solidFill>
                          <a:latin typeface="Montserrat Bold"/>
                          <a:ea typeface="Montserrat Bold"/>
                          <a:cs typeface="Montserrat Bold"/>
                          <a:sym typeface="Montserrat Bold"/>
                        </a:rPr>
                        <a:t>Scalability:</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9"/>
                        </a:lnSpc>
                        <a:defRPr/>
                      </a:pPr>
                      <a:r>
                        <a:rPr lang="en-US" sz="2499">
                          <a:solidFill>
                            <a:srgbClr val="FFFFFF"/>
                          </a:solidFill>
                          <a:latin typeface="Montserrat"/>
                          <a:ea typeface="Montserrat"/>
                          <a:cs typeface="Montserrat"/>
                          <a:sym typeface="Montserrat"/>
                        </a:rPr>
                        <a:t>Parallel processing allows for easier scaling of applications and systems by adding more processors or cores, enabling them to handle larger workloads.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Box 9"/>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Home</a:t>
            </a:r>
          </a:p>
        </p:txBody>
      </p:sp>
      <p:sp>
        <p:nvSpPr>
          <p:cNvPr id="10" name="TextBox 10"/>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About</a:t>
            </a:r>
          </a:p>
        </p:txBody>
      </p:sp>
      <p:sp>
        <p:nvSpPr>
          <p:cNvPr id="11" name="TextBox 11"/>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Content</a:t>
            </a:r>
          </a:p>
        </p:txBody>
      </p:sp>
      <p:sp>
        <p:nvSpPr>
          <p:cNvPr id="12" name="TextBox 12"/>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Others</a:t>
            </a:r>
          </a:p>
        </p:txBody>
      </p:sp>
      <p:sp>
        <p:nvSpPr>
          <p:cNvPr id="13" name="TextBox 13"/>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14" name="TextBox 14"/>
          <p:cNvSpPr txBox="1"/>
          <p:nvPr/>
        </p:nvSpPr>
        <p:spPr>
          <a:xfrm>
            <a:off x="7340886" y="1196697"/>
            <a:ext cx="3606229" cy="986241"/>
          </a:xfrm>
          <a:prstGeom prst="rect">
            <a:avLst/>
          </a:prstGeom>
        </p:spPr>
        <p:txBody>
          <a:bodyPr lIns="0" tIns="0" rIns="0" bIns="0" rtlCol="0" anchor="t">
            <a:spAutoFit/>
          </a:bodyPr>
          <a:lstStyle/>
          <a:p>
            <a:pPr marL="0" lvl="0" indent="0" algn="l">
              <a:lnSpc>
                <a:spcPts val="7704"/>
              </a:lnSpc>
            </a:pPr>
            <a:r>
              <a:rPr lang="en-US" sz="6641" b="1" spc="-312">
                <a:solidFill>
                  <a:srgbClr val="FFFFFF"/>
                </a:solidFill>
                <a:latin typeface="Montserrat Bold"/>
                <a:ea typeface="Montserrat Bold"/>
                <a:cs typeface="Montserrat Bold"/>
                <a:sym typeface="Montserrat Bold"/>
              </a:rPr>
              <a:t>Benefits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MN"/>
          </a:p>
        </p:txBody>
      </p:sp>
      <p:sp>
        <p:nvSpPr>
          <p:cNvPr id="6" name="Freeform 6"/>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4"/>
            <a:stretch>
              <a:fillRect/>
            </a:stretch>
          </a:blipFill>
        </p:spPr>
        <p:txBody>
          <a:bodyPr/>
          <a:lstStyle/>
          <a:p>
            <a:endParaRPr lang="en-MN"/>
          </a:p>
        </p:txBody>
      </p:sp>
      <p:sp>
        <p:nvSpPr>
          <p:cNvPr id="7" name="Freeform 7"/>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5"/>
            <a:stretch>
              <a:fillRect/>
            </a:stretch>
          </a:blipFill>
        </p:spPr>
        <p:txBody>
          <a:bodyPr/>
          <a:lstStyle/>
          <a:p>
            <a:endParaRPr lang="en-MN"/>
          </a:p>
        </p:txBody>
      </p:sp>
      <p:graphicFrame>
        <p:nvGraphicFramePr>
          <p:cNvPr id="8" name="Table 8"/>
          <p:cNvGraphicFramePr>
            <a:graphicFrameLocks noGrp="1"/>
          </p:cNvGraphicFramePr>
          <p:nvPr/>
        </p:nvGraphicFramePr>
        <p:xfrm>
          <a:off x="499151" y="2667487"/>
          <a:ext cx="17289697" cy="6974631"/>
        </p:xfrm>
        <a:graphic>
          <a:graphicData uri="http://schemas.openxmlformats.org/drawingml/2006/table">
            <a:tbl>
              <a:tblPr/>
              <a:tblGrid>
                <a:gridCol w="6073381">
                  <a:extLst>
                    <a:ext uri="{9D8B030D-6E8A-4147-A177-3AD203B41FA5}">
                      <a16:colId xmlns:a16="http://schemas.microsoft.com/office/drawing/2014/main" val="20000"/>
                    </a:ext>
                  </a:extLst>
                </a:gridCol>
                <a:gridCol w="11216316">
                  <a:extLst>
                    <a:ext uri="{9D8B030D-6E8A-4147-A177-3AD203B41FA5}">
                      <a16:colId xmlns:a16="http://schemas.microsoft.com/office/drawing/2014/main" val="20001"/>
                    </a:ext>
                  </a:extLst>
                </a:gridCol>
              </a:tblGrid>
              <a:tr h="1740467">
                <a:tc>
                  <a:txBody>
                    <a:bodyPr/>
                    <a:lstStyle/>
                    <a:p>
                      <a:pPr algn="ctr">
                        <a:lnSpc>
                          <a:spcPts val="3499"/>
                        </a:lnSpc>
                        <a:defRPr/>
                      </a:pPr>
                      <a:r>
                        <a:rPr lang="en-US" sz="2499" b="1">
                          <a:solidFill>
                            <a:srgbClr val="FFFFFF"/>
                          </a:solidFill>
                          <a:latin typeface="Montserrat Bold"/>
                          <a:ea typeface="Montserrat Bold"/>
                          <a:cs typeface="Montserrat Bold"/>
                          <a:sym typeface="Montserrat Bold"/>
                        </a:rPr>
                        <a:t>Increased Complexity:</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9"/>
                        </a:lnSpc>
                        <a:defRPr/>
                      </a:pPr>
                      <a:r>
                        <a:rPr lang="en-US" sz="2499">
                          <a:solidFill>
                            <a:srgbClr val="FFFFFF"/>
                          </a:solidFill>
                          <a:latin typeface="Montserrat"/>
                          <a:ea typeface="Montserrat"/>
                          <a:cs typeface="Montserrat"/>
                          <a:sym typeface="Montserrat"/>
                        </a:rPr>
                        <a:t>Designing, implementing, and debugging parallel programs can be significantly more complex than writing sequential code.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800536">
                <a:tc>
                  <a:txBody>
                    <a:bodyPr/>
                    <a:lstStyle/>
                    <a:p>
                      <a:pPr algn="ctr">
                        <a:lnSpc>
                          <a:spcPts val="3499"/>
                        </a:lnSpc>
                        <a:defRPr/>
                      </a:pPr>
                      <a:r>
                        <a:rPr lang="en-US" sz="2499" b="1">
                          <a:solidFill>
                            <a:srgbClr val="FFFFFF"/>
                          </a:solidFill>
                          <a:latin typeface="Montserrat Bold"/>
                          <a:ea typeface="Montserrat Bold"/>
                          <a:cs typeface="Montserrat Bold"/>
                          <a:sym typeface="Montserrat Bold"/>
                        </a:rPr>
                        <a:t>Debugging and Testing: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9"/>
                        </a:lnSpc>
                        <a:defRPr/>
                      </a:pPr>
                      <a:r>
                        <a:rPr lang="en-US" sz="2499">
                          <a:solidFill>
                            <a:srgbClr val="FFFFFF"/>
                          </a:solidFill>
                          <a:latin typeface="Montserrat"/>
                          <a:ea typeface="Montserrat"/>
                          <a:cs typeface="Montserrat"/>
                          <a:sym typeface="Montserrat"/>
                        </a:rPr>
                        <a:t>Parallel programs can be harder to debug and test because the execution order of different threads or processes is not always predictable, making it difficult to identify and fix issues.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800536">
                <a:tc>
                  <a:txBody>
                    <a:bodyPr/>
                    <a:lstStyle/>
                    <a:p>
                      <a:pPr algn="ctr">
                        <a:lnSpc>
                          <a:spcPts val="3499"/>
                        </a:lnSpc>
                        <a:defRPr/>
                      </a:pPr>
                      <a:r>
                        <a:rPr lang="en-US" sz="2499" b="1">
                          <a:solidFill>
                            <a:srgbClr val="FFFFFF"/>
                          </a:solidFill>
                          <a:latin typeface="Montserrat Bold"/>
                          <a:ea typeface="Montserrat Bold"/>
                          <a:cs typeface="Montserrat Bold"/>
                          <a:sym typeface="Montserrat Bold"/>
                        </a:rPr>
                        <a:t>Synchronization issues: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9"/>
                        </a:lnSpc>
                        <a:defRPr/>
                      </a:pPr>
                      <a:r>
                        <a:rPr lang="en-US" sz="2499">
                          <a:solidFill>
                            <a:srgbClr val="FFFFFF"/>
                          </a:solidFill>
                          <a:latin typeface="Montserrat"/>
                          <a:ea typeface="Montserrat"/>
                          <a:cs typeface="Montserrat"/>
                          <a:sym typeface="Montserrat"/>
                        </a:rPr>
                        <a:t>Coordinating and synchronizing multiple threads or processes, and managing data sharing and communication between them, can introduce overhead and reduce overall performance.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633092">
                <a:tc>
                  <a:txBody>
                    <a:bodyPr/>
                    <a:lstStyle/>
                    <a:p>
                      <a:pPr algn="ctr">
                        <a:lnSpc>
                          <a:spcPts val="3499"/>
                        </a:lnSpc>
                        <a:defRPr/>
                      </a:pPr>
                      <a:r>
                        <a:rPr lang="en-US" sz="2499" b="1">
                          <a:solidFill>
                            <a:srgbClr val="FFFFFF"/>
                          </a:solidFill>
                          <a:latin typeface="Montserrat Bold"/>
                          <a:ea typeface="Montserrat Bold"/>
                          <a:cs typeface="Montserrat Bold"/>
                          <a:sym typeface="Montserrat Bold"/>
                        </a:rPr>
                        <a:t>Energy Consumption: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9"/>
                        </a:lnSpc>
                        <a:defRPr/>
                      </a:pPr>
                      <a:r>
                        <a:rPr lang="en-US" sz="2499">
                          <a:solidFill>
                            <a:srgbClr val="FFFFFF"/>
                          </a:solidFill>
                          <a:latin typeface="Montserrat"/>
                          <a:ea typeface="Montserrat"/>
                          <a:cs typeface="Montserrat"/>
                          <a:sym typeface="Montserrat"/>
                        </a:rPr>
                        <a:t>Parallel systems can consume more power than their serial counterparts, especially when running at full capacity.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Box 9"/>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Home</a:t>
            </a:r>
          </a:p>
        </p:txBody>
      </p:sp>
      <p:sp>
        <p:nvSpPr>
          <p:cNvPr id="10" name="TextBox 10"/>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About</a:t>
            </a:r>
          </a:p>
        </p:txBody>
      </p:sp>
      <p:sp>
        <p:nvSpPr>
          <p:cNvPr id="11" name="TextBox 11"/>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Content</a:t>
            </a:r>
          </a:p>
        </p:txBody>
      </p:sp>
      <p:sp>
        <p:nvSpPr>
          <p:cNvPr id="12" name="TextBox 12"/>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Others</a:t>
            </a:r>
          </a:p>
        </p:txBody>
      </p:sp>
      <p:sp>
        <p:nvSpPr>
          <p:cNvPr id="13" name="TextBox 13"/>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14" name="TextBox 14"/>
          <p:cNvSpPr txBox="1"/>
          <p:nvPr/>
        </p:nvSpPr>
        <p:spPr>
          <a:xfrm>
            <a:off x="6787934" y="1206849"/>
            <a:ext cx="4712132" cy="986241"/>
          </a:xfrm>
          <a:prstGeom prst="rect">
            <a:avLst/>
          </a:prstGeom>
        </p:spPr>
        <p:txBody>
          <a:bodyPr lIns="0" tIns="0" rIns="0" bIns="0" rtlCol="0" anchor="t">
            <a:spAutoFit/>
          </a:bodyPr>
          <a:lstStyle/>
          <a:p>
            <a:pPr marL="0" lvl="0" indent="0" algn="l">
              <a:lnSpc>
                <a:spcPts val="7704"/>
              </a:lnSpc>
            </a:pPr>
            <a:r>
              <a:rPr lang="en-US" sz="6641" b="1" spc="-312">
                <a:solidFill>
                  <a:srgbClr val="FFFFFF"/>
                </a:solidFill>
                <a:latin typeface="Montserrat Bold"/>
                <a:ea typeface="Montserrat Bold"/>
                <a:cs typeface="Montserrat Bold"/>
                <a:sym typeface="Montserrat Bold"/>
              </a:rPr>
              <a:t>Challenges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MN"/>
          </a:p>
        </p:txBody>
      </p:sp>
      <p:sp>
        <p:nvSpPr>
          <p:cNvPr id="6" name="Freeform 6"/>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4"/>
            <a:stretch>
              <a:fillRect/>
            </a:stretch>
          </a:blipFill>
        </p:spPr>
        <p:txBody>
          <a:bodyPr/>
          <a:lstStyle/>
          <a:p>
            <a:endParaRPr lang="en-MN"/>
          </a:p>
        </p:txBody>
      </p:sp>
      <p:sp>
        <p:nvSpPr>
          <p:cNvPr id="7" name="Freeform 7"/>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5"/>
            <a:stretch>
              <a:fillRect/>
            </a:stretch>
          </a:blipFill>
        </p:spPr>
        <p:txBody>
          <a:bodyPr/>
          <a:lstStyle/>
          <a:p>
            <a:endParaRPr lang="en-MN"/>
          </a:p>
        </p:txBody>
      </p:sp>
      <p:sp>
        <p:nvSpPr>
          <p:cNvPr id="8" name="TextBox 8"/>
          <p:cNvSpPr txBox="1"/>
          <p:nvPr/>
        </p:nvSpPr>
        <p:spPr>
          <a:xfrm>
            <a:off x="862151" y="3823335"/>
            <a:ext cx="7598443" cy="5434965"/>
          </a:xfrm>
          <a:prstGeom prst="rect">
            <a:avLst/>
          </a:prstGeom>
        </p:spPr>
        <p:txBody>
          <a:bodyPr lIns="0" tIns="0" rIns="0" bIns="0" rtlCol="0" anchor="t">
            <a:spAutoFit/>
          </a:bodyPr>
          <a:lstStyle/>
          <a:p>
            <a:pPr algn="just">
              <a:lnSpc>
                <a:spcPts val="3359"/>
              </a:lnSpc>
            </a:pPr>
            <a:r>
              <a:rPr lang="en-US" sz="2400" spc="79">
                <a:solidFill>
                  <a:srgbClr val="FFFFFF"/>
                </a:solidFill>
                <a:latin typeface="Open Sauce Light"/>
                <a:ea typeface="Open Sauce Light"/>
                <a:cs typeface="Open Sauce Light"/>
                <a:sym typeface="Open Sauce Light"/>
              </a:rPr>
              <a:t>Parallel computing began in the late 1950s and evolved through shared memory multiprocessors in the 1960s and 70s. A major milestone occurred in the 1980s when Caltech demonstrated high performance using standard microprocessors. This led to the rise of massively parallel processors (MPPs), which became dominant in high-performance computing. A key breakthrough came in 1997 with the ASCI Red supercomputer, the first to exceed one trillion operations per second. Since then, MPPs have continued to advance in scale and capability.</a:t>
            </a:r>
          </a:p>
        </p:txBody>
      </p:sp>
      <p:sp>
        <p:nvSpPr>
          <p:cNvPr id="9" name="Freeform 9"/>
          <p:cNvSpPr/>
          <p:nvPr/>
        </p:nvSpPr>
        <p:spPr>
          <a:xfrm>
            <a:off x="1730951" y="8558410"/>
            <a:ext cx="407672" cy="233485"/>
          </a:xfrm>
          <a:custGeom>
            <a:avLst/>
            <a:gdLst/>
            <a:ahLst/>
            <a:cxnLst/>
            <a:rect l="l" t="t" r="r" b="b"/>
            <a:pathLst>
              <a:path w="407672" h="233485">
                <a:moveTo>
                  <a:pt x="0" y="0"/>
                </a:moveTo>
                <a:lnTo>
                  <a:pt x="407672" y="0"/>
                </a:lnTo>
                <a:lnTo>
                  <a:pt x="407672" y="233485"/>
                </a:lnTo>
                <a:lnTo>
                  <a:pt x="0" y="2334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MN"/>
          </a:p>
        </p:txBody>
      </p:sp>
      <p:sp>
        <p:nvSpPr>
          <p:cNvPr id="10" name="Freeform 10"/>
          <p:cNvSpPr/>
          <p:nvPr/>
        </p:nvSpPr>
        <p:spPr>
          <a:xfrm>
            <a:off x="9669806" y="2334939"/>
            <a:ext cx="7965678" cy="5297176"/>
          </a:xfrm>
          <a:custGeom>
            <a:avLst/>
            <a:gdLst/>
            <a:ahLst/>
            <a:cxnLst/>
            <a:rect l="l" t="t" r="r" b="b"/>
            <a:pathLst>
              <a:path w="7965678" h="5297176">
                <a:moveTo>
                  <a:pt x="0" y="0"/>
                </a:moveTo>
                <a:lnTo>
                  <a:pt x="7965677" y="0"/>
                </a:lnTo>
                <a:lnTo>
                  <a:pt x="7965677" y="5297175"/>
                </a:lnTo>
                <a:lnTo>
                  <a:pt x="0" y="5297175"/>
                </a:lnTo>
                <a:lnTo>
                  <a:pt x="0" y="0"/>
                </a:lnTo>
                <a:close/>
              </a:path>
            </a:pathLst>
          </a:custGeom>
          <a:blipFill>
            <a:blip r:embed="rId8"/>
            <a:stretch>
              <a:fillRect/>
            </a:stretch>
          </a:blipFill>
        </p:spPr>
        <p:txBody>
          <a:bodyPr/>
          <a:lstStyle/>
          <a:p>
            <a:endParaRPr lang="en-MN"/>
          </a:p>
        </p:txBody>
      </p:sp>
      <p:sp>
        <p:nvSpPr>
          <p:cNvPr id="11" name="TextBox 11"/>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Home</a:t>
            </a:r>
          </a:p>
        </p:txBody>
      </p:sp>
      <p:sp>
        <p:nvSpPr>
          <p:cNvPr id="12" name="TextBox 12"/>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About</a:t>
            </a:r>
          </a:p>
        </p:txBody>
      </p:sp>
      <p:sp>
        <p:nvSpPr>
          <p:cNvPr id="13" name="TextBox 13"/>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Content</a:t>
            </a:r>
          </a:p>
        </p:txBody>
      </p:sp>
      <p:sp>
        <p:nvSpPr>
          <p:cNvPr id="14" name="TextBox 14"/>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Others</a:t>
            </a:r>
          </a:p>
        </p:txBody>
      </p:sp>
      <p:sp>
        <p:nvSpPr>
          <p:cNvPr id="15" name="TextBox 15"/>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16" name="TextBox 16"/>
          <p:cNvSpPr txBox="1"/>
          <p:nvPr/>
        </p:nvSpPr>
        <p:spPr>
          <a:xfrm>
            <a:off x="862151" y="2353989"/>
            <a:ext cx="3042844" cy="986241"/>
          </a:xfrm>
          <a:prstGeom prst="rect">
            <a:avLst/>
          </a:prstGeom>
        </p:spPr>
        <p:txBody>
          <a:bodyPr lIns="0" tIns="0" rIns="0" bIns="0" rtlCol="0" anchor="t">
            <a:spAutoFit/>
          </a:bodyPr>
          <a:lstStyle/>
          <a:p>
            <a:pPr marL="0" lvl="0" indent="0" algn="l">
              <a:lnSpc>
                <a:spcPts val="7704"/>
              </a:lnSpc>
            </a:pPr>
            <a:r>
              <a:rPr lang="en-US" sz="6641" b="1" spc="-312">
                <a:solidFill>
                  <a:srgbClr val="FFFFFF"/>
                </a:solidFill>
                <a:latin typeface="Montserrat Bold"/>
                <a:ea typeface="Montserrat Bold"/>
                <a:cs typeface="Montserrat Bold"/>
                <a:sym typeface="Montserrat Bold"/>
              </a:rPr>
              <a:t>History</a:t>
            </a:r>
          </a:p>
        </p:txBody>
      </p:sp>
      <p:sp>
        <p:nvSpPr>
          <p:cNvPr id="17" name="TextBox 17"/>
          <p:cNvSpPr txBox="1"/>
          <p:nvPr/>
        </p:nvSpPr>
        <p:spPr>
          <a:xfrm>
            <a:off x="9669806" y="8029357"/>
            <a:ext cx="7598443" cy="1243965"/>
          </a:xfrm>
          <a:prstGeom prst="rect">
            <a:avLst/>
          </a:prstGeom>
        </p:spPr>
        <p:txBody>
          <a:bodyPr lIns="0" tIns="0" rIns="0" bIns="0" rtlCol="0" anchor="t">
            <a:spAutoFit/>
          </a:bodyPr>
          <a:lstStyle/>
          <a:p>
            <a:pPr algn="just">
              <a:lnSpc>
                <a:spcPts val="3359"/>
              </a:lnSpc>
            </a:pPr>
            <a:r>
              <a:rPr lang="en-US" sz="2400" b="1" spc="79">
                <a:solidFill>
                  <a:srgbClr val="FFFFFF"/>
                </a:solidFill>
                <a:latin typeface="Open Sauce Bold"/>
                <a:ea typeface="Open Sauce Bold"/>
                <a:cs typeface="Open Sauce Bold"/>
                <a:sym typeface="Open Sauce Bold"/>
              </a:rPr>
              <a:t>A Beowulf Cluster</a:t>
            </a:r>
            <a:r>
              <a:rPr lang="en-US" sz="2400" spc="79">
                <a:solidFill>
                  <a:srgbClr val="FFFFFF"/>
                </a:solidFill>
                <a:latin typeface="Open Sauce Light"/>
                <a:ea typeface="Open Sauce Light"/>
                <a:cs typeface="Open Sauce Light"/>
                <a:sym typeface="Open Sauce Light"/>
              </a:rPr>
              <a:t> - A collection of computers in a local area network, allowing shared processing of tasks.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MN"/>
          </a:p>
        </p:txBody>
      </p:sp>
      <p:sp>
        <p:nvSpPr>
          <p:cNvPr id="6" name="Freeform 6"/>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4"/>
            <a:stretch>
              <a:fillRect/>
            </a:stretch>
          </a:blipFill>
        </p:spPr>
        <p:txBody>
          <a:bodyPr/>
          <a:lstStyle/>
          <a:p>
            <a:endParaRPr lang="en-MN"/>
          </a:p>
        </p:txBody>
      </p:sp>
      <p:sp>
        <p:nvSpPr>
          <p:cNvPr id="7" name="Freeform 7"/>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5"/>
            <a:stretch>
              <a:fillRect/>
            </a:stretch>
          </a:blipFill>
        </p:spPr>
        <p:txBody>
          <a:bodyPr/>
          <a:lstStyle/>
          <a:p>
            <a:endParaRPr lang="en-MN"/>
          </a:p>
        </p:txBody>
      </p:sp>
      <p:sp>
        <p:nvSpPr>
          <p:cNvPr id="8" name="Freeform 8"/>
          <p:cNvSpPr/>
          <p:nvPr/>
        </p:nvSpPr>
        <p:spPr>
          <a:xfrm>
            <a:off x="1400487" y="5391656"/>
            <a:ext cx="3559793" cy="2643727"/>
          </a:xfrm>
          <a:custGeom>
            <a:avLst/>
            <a:gdLst/>
            <a:ahLst/>
            <a:cxnLst/>
            <a:rect l="l" t="t" r="r" b="b"/>
            <a:pathLst>
              <a:path w="3559793" h="2643727">
                <a:moveTo>
                  <a:pt x="0" y="0"/>
                </a:moveTo>
                <a:lnTo>
                  <a:pt x="3559793" y="0"/>
                </a:lnTo>
                <a:lnTo>
                  <a:pt x="3559793" y="2643727"/>
                </a:lnTo>
                <a:lnTo>
                  <a:pt x="0" y="2643727"/>
                </a:lnTo>
                <a:lnTo>
                  <a:pt x="0" y="0"/>
                </a:lnTo>
                <a:close/>
              </a:path>
            </a:pathLst>
          </a:custGeom>
          <a:blipFill>
            <a:blip r:embed="rId6"/>
            <a:stretch>
              <a:fillRect l="-2351" t="-3294" r="-3516" b="-3946"/>
            </a:stretch>
          </a:blipFill>
        </p:spPr>
        <p:txBody>
          <a:bodyPr/>
          <a:lstStyle/>
          <a:p>
            <a:endParaRPr lang="en-MN"/>
          </a:p>
        </p:txBody>
      </p:sp>
      <p:sp>
        <p:nvSpPr>
          <p:cNvPr id="9" name="Freeform 9"/>
          <p:cNvSpPr/>
          <p:nvPr/>
        </p:nvSpPr>
        <p:spPr>
          <a:xfrm>
            <a:off x="6123683" y="5391656"/>
            <a:ext cx="3575769" cy="2579840"/>
          </a:xfrm>
          <a:custGeom>
            <a:avLst/>
            <a:gdLst/>
            <a:ahLst/>
            <a:cxnLst/>
            <a:rect l="l" t="t" r="r" b="b"/>
            <a:pathLst>
              <a:path w="3575769" h="2579840">
                <a:moveTo>
                  <a:pt x="0" y="0"/>
                </a:moveTo>
                <a:lnTo>
                  <a:pt x="3575769" y="0"/>
                </a:lnTo>
                <a:lnTo>
                  <a:pt x="3575769" y="2579840"/>
                </a:lnTo>
                <a:lnTo>
                  <a:pt x="0" y="2579840"/>
                </a:lnTo>
                <a:lnTo>
                  <a:pt x="0" y="0"/>
                </a:lnTo>
                <a:close/>
              </a:path>
            </a:pathLst>
          </a:custGeom>
          <a:blipFill>
            <a:blip r:embed="rId7"/>
            <a:stretch>
              <a:fillRect l="-1198" t="-3376" r="-472" b="-2476"/>
            </a:stretch>
          </a:blipFill>
        </p:spPr>
        <p:txBody>
          <a:bodyPr/>
          <a:lstStyle/>
          <a:p>
            <a:endParaRPr lang="en-MN"/>
          </a:p>
        </p:txBody>
      </p:sp>
      <p:sp>
        <p:nvSpPr>
          <p:cNvPr id="10" name="Freeform 10"/>
          <p:cNvSpPr/>
          <p:nvPr/>
        </p:nvSpPr>
        <p:spPr>
          <a:xfrm>
            <a:off x="10861502" y="5327769"/>
            <a:ext cx="3519462" cy="2643727"/>
          </a:xfrm>
          <a:custGeom>
            <a:avLst/>
            <a:gdLst/>
            <a:ahLst/>
            <a:cxnLst/>
            <a:rect l="l" t="t" r="r" b="b"/>
            <a:pathLst>
              <a:path w="3519462" h="2643727">
                <a:moveTo>
                  <a:pt x="0" y="0"/>
                </a:moveTo>
                <a:lnTo>
                  <a:pt x="3519462" y="0"/>
                </a:lnTo>
                <a:lnTo>
                  <a:pt x="3519462" y="2643727"/>
                </a:lnTo>
                <a:lnTo>
                  <a:pt x="0" y="2643727"/>
                </a:lnTo>
                <a:lnTo>
                  <a:pt x="0" y="0"/>
                </a:lnTo>
                <a:close/>
              </a:path>
            </a:pathLst>
          </a:custGeom>
          <a:blipFill>
            <a:blip r:embed="rId8"/>
            <a:stretch>
              <a:fillRect/>
            </a:stretch>
          </a:blipFill>
        </p:spPr>
        <p:txBody>
          <a:bodyPr/>
          <a:lstStyle/>
          <a:p>
            <a:endParaRPr lang="en-MN"/>
          </a:p>
        </p:txBody>
      </p:sp>
      <p:sp>
        <p:nvSpPr>
          <p:cNvPr id="11" name="TextBox 11"/>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Home</a:t>
            </a:r>
          </a:p>
        </p:txBody>
      </p:sp>
      <p:sp>
        <p:nvSpPr>
          <p:cNvPr id="12" name="TextBox 12"/>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About</a:t>
            </a:r>
          </a:p>
        </p:txBody>
      </p:sp>
      <p:sp>
        <p:nvSpPr>
          <p:cNvPr id="13" name="TextBox 13"/>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Content</a:t>
            </a:r>
          </a:p>
        </p:txBody>
      </p:sp>
      <p:sp>
        <p:nvSpPr>
          <p:cNvPr id="14" name="TextBox 14"/>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Others</a:t>
            </a:r>
          </a:p>
        </p:txBody>
      </p:sp>
      <p:sp>
        <p:nvSpPr>
          <p:cNvPr id="15" name="TextBox 15"/>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16" name="TextBox 16"/>
          <p:cNvSpPr txBox="1"/>
          <p:nvPr/>
        </p:nvSpPr>
        <p:spPr>
          <a:xfrm>
            <a:off x="1400487" y="1587190"/>
            <a:ext cx="11710049" cy="986241"/>
          </a:xfrm>
          <a:prstGeom prst="rect">
            <a:avLst/>
          </a:prstGeom>
        </p:spPr>
        <p:txBody>
          <a:bodyPr lIns="0" tIns="0" rIns="0" bIns="0" rtlCol="0" anchor="t">
            <a:spAutoFit/>
          </a:bodyPr>
          <a:lstStyle/>
          <a:p>
            <a:pPr marL="0" lvl="0" indent="0" algn="l">
              <a:lnSpc>
                <a:spcPts val="7704"/>
              </a:lnSpc>
            </a:pPr>
            <a:r>
              <a:rPr lang="en-US" sz="6641" b="1" spc="-312">
                <a:solidFill>
                  <a:srgbClr val="FFFFFF"/>
                </a:solidFill>
                <a:latin typeface="Montserrat Bold"/>
                <a:ea typeface="Montserrat Bold"/>
                <a:cs typeface="Montserrat Bold"/>
                <a:sym typeface="Montserrat Bold"/>
              </a:rPr>
              <a:t>Real-World example</a:t>
            </a:r>
          </a:p>
        </p:txBody>
      </p:sp>
      <p:sp>
        <p:nvSpPr>
          <p:cNvPr id="17" name="TextBox 17"/>
          <p:cNvSpPr txBox="1"/>
          <p:nvPr/>
        </p:nvSpPr>
        <p:spPr>
          <a:xfrm>
            <a:off x="1400487" y="3008390"/>
            <a:ext cx="15582479" cy="1810385"/>
          </a:xfrm>
          <a:prstGeom prst="rect">
            <a:avLst/>
          </a:prstGeom>
        </p:spPr>
        <p:txBody>
          <a:bodyPr lIns="0" tIns="0" rIns="0" bIns="0" rtlCol="0" anchor="t">
            <a:spAutoFit/>
          </a:bodyPr>
          <a:lstStyle/>
          <a:p>
            <a:pPr algn="just">
              <a:lnSpc>
                <a:spcPts val="3639"/>
              </a:lnSpc>
            </a:pPr>
            <a:r>
              <a:rPr lang="en-US" sz="2599" b="1" spc="85">
                <a:solidFill>
                  <a:srgbClr val="FFFFFF"/>
                </a:solidFill>
                <a:latin typeface="Open Sauce Bold"/>
                <a:ea typeface="Open Sauce Bold"/>
                <a:cs typeface="Open Sauce Bold"/>
                <a:sym typeface="Open Sauce Bold"/>
              </a:rPr>
              <a:t>Supercomputers for use in astronomy</a:t>
            </a:r>
          </a:p>
          <a:p>
            <a:pPr algn="just">
              <a:lnSpc>
                <a:spcPts val="3639"/>
              </a:lnSpc>
            </a:pPr>
            <a:r>
              <a:rPr lang="en-US" sz="2599" spc="85">
                <a:solidFill>
                  <a:srgbClr val="FFFFFF"/>
                </a:solidFill>
                <a:latin typeface="Open Sauce Light"/>
                <a:ea typeface="Open Sauce Light"/>
                <a:cs typeface="Open Sauce Light"/>
                <a:sym typeface="Open Sauce Light"/>
              </a:rPr>
              <a:t>When examining the Universe phenomena such as Galaxy Formation, Planetary Movements, Climate Change, etc, computer simulations are essential since the ingestions can take millions of years. </a:t>
            </a:r>
          </a:p>
        </p:txBody>
      </p:sp>
      <p:sp>
        <p:nvSpPr>
          <p:cNvPr id="18" name="TextBox 18"/>
          <p:cNvSpPr txBox="1"/>
          <p:nvPr/>
        </p:nvSpPr>
        <p:spPr>
          <a:xfrm>
            <a:off x="1400487" y="9210675"/>
            <a:ext cx="15582479" cy="438785"/>
          </a:xfrm>
          <a:prstGeom prst="rect">
            <a:avLst/>
          </a:prstGeom>
        </p:spPr>
        <p:txBody>
          <a:bodyPr lIns="0" tIns="0" rIns="0" bIns="0" rtlCol="0" anchor="t">
            <a:spAutoFit/>
          </a:bodyPr>
          <a:lstStyle/>
          <a:p>
            <a:pPr algn="just">
              <a:lnSpc>
                <a:spcPts val="3639"/>
              </a:lnSpc>
            </a:pPr>
            <a:r>
              <a:rPr lang="en-US" sz="2599" spc="85">
                <a:solidFill>
                  <a:srgbClr val="FFFFFF"/>
                </a:solidFill>
                <a:latin typeface="Montserrat"/>
                <a:ea typeface="Montserrat"/>
                <a:cs typeface="Montserrat"/>
                <a:sym typeface="Montserrat"/>
              </a:rPr>
              <a:t>Real world phenomena can be simulated with parallel computing</a:t>
            </a:r>
          </a:p>
        </p:txBody>
      </p:sp>
      <p:sp>
        <p:nvSpPr>
          <p:cNvPr id="19" name="TextBox 19"/>
          <p:cNvSpPr txBox="1"/>
          <p:nvPr/>
        </p:nvSpPr>
        <p:spPr>
          <a:xfrm>
            <a:off x="1745589" y="8153986"/>
            <a:ext cx="2869589" cy="389255"/>
          </a:xfrm>
          <a:prstGeom prst="rect">
            <a:avLst/>
          </a:prstGeom>
        </p:spPr>
        <p:txBody>
          <a:bodyPr lIns="0" tIns="0" rIns="0" bIns="0" rtlCol="0" anchor="t">
            <a:spAutoFit/>
          </a:bodyPr>
          <a:lstStyle/>
          <a:p>
            <a:pPr algn="just">
              <a:lnSpc>
                <a:spcPts val="3220"/>
              </a:lnSpc>
            </a:pPr>
            <a:r>
              <a:rPr lang="en-US" sz="2300" spc="75">
                <a:solidFill>
                  <a:srgbClr val="FFFFFF"/>
                </a:solidFill>
                <a:latin typeface="Montserrat"/>
                <a:ea typeface="Montserrat"/>
                <a:cs typeface="Montserrat"/>
                <a:sym typeface="Montserrat"/>
              </a:rPr>
              <a:t>Galaxy Formation</a:t>
            </a:r>
          </a:p>
        </p:txBody>
      </p:sp>
      <p:sp>
        <p:nvSpPr>
          <p:cNvPr id="20" name="TextBox 20"/>
          <p:cNvSpPr txBox="1"/>
          <p:nvPr/>
        </p:nvSpPr>
        <p:spPr>
          <a:xfrm>
            <a:off x="6183899" y="8153986"/>
            <a:ext cx="3455336" cy="389255"/>
          </a:xfrm>
          <a:prstGeom prst="rect">
            <a:avLst/>
          </a:prstGeom>
        </p:spPr>
        <p:txBody>
          <a:bodyPr lIns="0" tIns="0" rIns="0" bIns="0" rtlCol="0" anchor="t">
            <a:spAutoFit/>
          </a:bodyPr>
          <a:lstStyle/>
          <a:p>
            <a:pPr algn="just">
              <a:lnSpc>
                <a:spcPts val="3220"/>
              </a:lnSpc>
            </a:pPr>
            <a:r>
              <a:rPr lang="en-US" sz="2300" spc="75">
                <a:solidFill>
                  <a:srgbClr val="FFFFFF"/>
                </a:solidFill>
                <a:latin typeface="Montserrat"/>
                <a:ea typeface="Montserrat"/>
                <a:cs typeface="Montserrat"/>
                <a:sym typeface="Montserrat"/>
              </a:rPr>
              <a:t>Planetary Movements</a:t>
            </a:r>
          </a:p>
        </p:txBody>
      </p:sp>
      <p:sp>
        <p:nvSpPr>
          <p:cNvPr id="21" name="TextBox 21"/>
          <p:cNvSpPr txBox="1"/>
          <p:nvPr/>
        </p:nvSpPr>
        <p:spPr>
          <a:xfrm>
            <a:off x="11210860" y="8153986"/>
            <a:ext cx="2869589" cy="389255"/>
          </a:xfrm>
          <a:prstGeom prst="rect">
            <a:avLst/>
          </a:prstGeom>
        </p:spPr>
        <p:txBody>
          <a:bodyPr lIns="0" tIns="0" rIns="0" bIns="0" rtlCol="0" anchor="t">
            <a:spAutoFit/>
          </a:bodyPr>
          <a:lstStyle/>
          <a:p>
            <a:pPr algn="just">
              <a:lnSpc>
                <a:spcPts val="3220"/>
              </a:lnSpc>
            </a:pPr>
            <a:r>
              <a:rPr lang="en-US" sz="2300" spc="75">
                <a:solidFill>
                  <a:srgbClr val="FFFFFF"/>
                </a:solidFill>
                <a:latin typeface="Montserrat"/>
                <a:ea typeface="Montserrat"/>
                <a:cs typeface="Montserrat"/>
                <a:sym typeface="Montserrat"/>
              </a:rPr>
              <a:t>Climate Change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6982967" y="400502"/>
            <a:ext cx="1305033" cy="333097"/>
            <a:chOff x="0" y="0"/>
            <a:chExt cx="343712" cy="87729"/>
          </a:xfrm>
        </p:grpSpPr>
        <p:sp>
          <p:nvSpPr>
            <p:cNvPr id="3" name="Freeform 3"/>
            <p:cNvSpPr/>
            <p:nvPr/>
          </p:nvSpPr>
          <p:spPr>
            <a:xfrm>
              <a:off x="0" y="0"/>
              <a:ext cx="343712" cy="87729"/>
            </a:xfrm>
            <a:custGeom>
              <a:avLst/>
              <a:gdLst/>
              <a:ahLst/>
              <a:cxnLst/>
              <a:rect l="l" t="t" r="r" b="b"/>
              <a:pathLst>
                <a:path w="343712" h="87729">
                  <a:moveTo>
                    <a:pt x="0" y="0"/>
                  </a:moveTo>
                  <a:lnTo>
                    <a:pt x="343712" y="0"/>
                  </a:lnTo>
                  <a:lnTo>
                    <a:pt x="343712" y="87729"/>
                  </a:lnTo>
                  <a:lnTo>
                    <a:pt x="0" y="87729"/>
                  </a:lnTo>
                  <a:close/>
                </a:path>
              </a:pathLst>
            </a:custGeom>
            <a:gradFill rotWithShape="1">
              <a:gsLst>
                <a:gs pos="0">
                  <a:srgbClr val="4E69B1">
                    <a:alpha val="100000"/>
                  </a:srgbClr>
                </a:gs>
                <a:gs pos="100000">
                  <a:srgbClr val="15122A">
                    <a:alpha val="100000"/>
                  </a:srgbClr>
                </a:gs>
              </a:gsLst>
              <a:path path="circle">
                <a:fillToRect r="100000" b="100000"/>
              </a:path>
              <a:tileRect l="-100000" t="-100000"/>
            </a:gradFill>
          </p:spPr>
          <p:txBody>
            <a:bodyPr/>
            <a:lstStyle/>
            <a:p>
              <a:endParaRPr lang="en-MN"/>
            </a:p>
          </p:txBody>
        </p:sp>
        <p:sp>
          <p:nvSpPr>
            <p:cNvPr id="4" name="TextBox 4"/>
            <p:cNvSpPr txBox="1"/>
            <p:nvPr/>
          </p:nvSpPr>
          <p:spPr>
            <a:xfrm>
              <a:off x="0" y="-38100"/>
              <a:ext cx="343712" cy="125829"/>
            </a:xfrm>
            <a:prstGeom prst="rect">
              <a:avLst/>
            </a:prstGeom>
          </p:spPr>
          <p:txBody>
            <a:bodyPr lIns="50800" tIns="50800" rIns="50800" bIns="50800" rtlCol="0" anchor="ctr"/>
            <a:lstStyle/>
            <a:p>
              <a:pPr algn="ctr">
                <a:lnSpc>
                  <a:spcPts val="2871"/>
                </a:lnSpc>
              </a:pPr>
              <a:endParaRPr/>
            </a:p>
          </p:txBody>
        </p:sp>
      </p:grpSp>
      <p:sp>
        <p:nvSpPr>
          <p:cNvPr id="5" name="Freeform 5"/>
          <p:cNvSpPr/>
          <p:nvPr/>
        </p:nvSpPr>
        <p:spPr>
          <a:xfrm>
            <a:off x="695603" y="420807"/>
            <a:ext cx="333097" cy="333097"/>
          </a:xfrm>
          <a:custGeom>
            <a:avLst/>
            <a:gdLst/>
            <a:ahLst/>
            <a:cxnLst/>
            <a:rect l="l" t="t" r="r" b="b"/>
            <a:pathLst>
              <a:path w="333097" h="333097">
                <a:moveTo>
                  <a:pt x="0" y="0"/>
                </a:moveTo>
                <a:lnTo>
                  <a:pt x="333097" y="0"/>
                </a:lnTo>
                <a:lnTo>
                  <a:pt x="333097" y="333097"/>
                </a:lnTo>
                <a:lnTo>
                  <a:pt x="0" y="333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MN"/>
          </a:p>
        </p:txBody>
      </p:sp>
      <p:sp>
        <p:nvSpPr>
          <p:cNvPr id="6" name="TextBox 6"/>
          <p:cNvSpPr txBox="1"/>
          <p:nvPr/>
        </p:nvSpPr>
        <p:spPr>
          <a:xfrm>
            <a:off x="1316785" y="412429"/>
            <a:ext cx="2753652" cy="280670"/>
          </a:xfrm>
          <a:prstGeom prst="rect">
            <a:avLst/>
          </a:prstGeom>
        </p:spPr>
        <p:txBody>
          <a:bodyPr lIns="0" tIns="0" rIns="0" bIns="0" rtlCol="0" anchor="t">
            <a:spAutoFit/>
          </a:bodyPr>
          <a:lstStyle/>
          <a:p>
            <a:pPr marL="0" lvl="0" indent="0" algn="l">
              <a:lnSpc>
                <a:spcPts val="2380"/>
              </a:lnSpc>
              <a:spcBef>
                <a:spcPct val="0"/>
              </a:spcBef>
            </a:pPr>
            <a:r>
              <a:rPr lang="en-US" sz="1700" b="1" spc="3">
                <a:solidFill>
                  <a:srgbClr val="FFFFFF"/>
                </a:solidFill>
                <a:latin typeface="Open Sauce Heavy"/>
                <a:ea typeface="Open Sauce Heavy"/>
                <a:cs typeface="Open Sauce Heavy"/>
                <a:sym typeface="Open Sauce Heavy"/>
              </a:rPr>
              <a:t>Thynk Unlimited</a:t>
            </a:r>
          </a:p>
        </p:txBody>
      </p:sp>
      <p:sp>
        <p:nvSpPr>
          <p:cNvPr id="7" name="Freeform 7"/>
          <p:cNvSpPr/>
          <p:nvPr/>
        </p:nvSpPr>
        <p:spPr>
          <a:xfrm>
            <a:off x="-7607709" y="-1481982"/>
            <a:ext cx="14774614" cy="12601514"/>
          </a:xfrm>
          <a:custGeom>
            <a:avLst/>
            <a:gdLst/>
            <a:ahLst/>
            <a:cxnLst/>
            <a:rect l="l" t="t" r="r" b="b"/>
            <a:pathLst>
              <a:path w="14774614" h="12601514">
                <a:moveTo>
                  <a:pt x="0" y="0"/>
                </a:moveTo>
                <a:lnTo>
                  <a:pt x="14774614" y="0"/>
                </a:lnTo>
                <a:lnTo>
                  <a:pt x="14774614" y="12601514"/>
                </a:lnTo>
                <a:lnTo>
                  <a:pt x="0" y="12601514"/>
                </a:lnTo>
                <a:lnTo>
                  <a:pt x="0" y="0"/>
                </a:lnTo>
                <a:close/>
              </a:path>
            </a:pathLst>
          </a:custGeom>
          <a:blipFill>
            <a:blip r:embed="rId4"/>
            <a:stretch>
              <a:fillRect/>
            </a:stretch>
          </a:blipFill>
        </p:spPr>
        <p:txBody>
          <a:bodyPr/>
          <a:lstStyle/>
          <a:p>
            <a:endParaRPr lang="en-MN"/>
          </a:p>
        </p:txBody>
      </p:sp>
      <p:sp>
        <p:nvSpPr>
          <p:cNvPr id="8" name="TextBox 8"/>
          <p:cNvSpPr txBox="1"/>
          <p:nvPr/>
        </p:nvSpPr>
        <p:spPr>
          <a:xfrm>
            <a:off x="9604462"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Home</a:t>
            </a:r>
          </a:p>
        </p:txBody>
      </p:sp>
      <p:sp>
        <p:nvSpPr>
          <p:cNvPr id="9" name="TextBox 9"/>
          <p:cNvSpPr txBox="1"/>
          <p:nvPr/>
        </p:nvSpPr>
        <p:spPr>
          <a:xfrm>
            <a:off x="11447986" y="432733"/>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About</a:t>
            </a:r>
          </a:p>
        </p:txBody>
      </p:sp>
      <p:sp>
        <p:nvSpPr>
          <p:cNvPr id="10" name="TextBox 10"/>
          <p:cNvSpPr txBox="1"/>
          <p:nvPr/>
        </p:nvSpPr>
        <p:spPr>
          <a:xfrm>
            <a:off x="13291511"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spc="3">
                <a:solidFill>
                  <a:srgbClr val="FFFFFF"/>
                </a:solidFill>
                <a:latin typeface="Open Sauce"/>
                <a:ea typeface="Open Sauce"/>
                <a:cs typeface="Open Sauce"/>
                <a:sym typeface="Open Sauce"/>
              </a:rPr>
              <a:t>Content</a:t>
            </a:r>
          </a:p>
        </p:txBody>
      </p:sp>
      <p:sp>
        <p:nvSpPr>
          <p:cNvPr id="11" name="TextBox 11"/>
          <p:cNvSpPr txBox="1"/>
          <p:nvPr/>
        </p:nvSpPr>
        <p:spPr>
          <a:xfrm>
            <a:off x="15135036" y="412429"/>
            <a:ext cx="1662550" cy="280670"/>
          </a:xfrm>
          <a:prstGeom prst="rect">
            <a:avLst/>
          </a:prstGeom>
        </p:spPr>
        <p:txBody>
          <a:bodyPr lIns="0" tIns="0" rIns="0" bIns="0" rtlCol="0" anchor="t">
            <a:spAutoFit/>
          </a:bodyPr>
          <a:lstStyle/>
          <a:p>
            <a:pPr marL="0" lvl="0" indent="0" algn="ctr">
              <a:lnSpc>
                <a:spcPts val="2380"/>
              </a:lnSpc>
              <a:spcBef>
                <a:spcPct val="0"/>
              </a:spcBef>
            </a:pPr>
            <a:r>
              <a:rPr lang="en-US" sz="1700" b="1" spc="3">
                <a:solidFill>
                  <a:srgbClr val="FFFFFF"/>
                </a:solidFill>
                <a:latin typeface="Open Sauce Heavy"/>
                <a:ea typeface="Open Sauce Heavy"/>
                <a:cs typeface="Open Sauce Heavy"/>
                <a:sym typeface="Open Sauce Heavy"/>
              </a:rPr>
              <a:t>Others</a:t>
            </a:r>
          </a:p>
        </p:txBody>
      </p:sp>
      <p:sp>
        <p:nvSpPr>
          <p:cNvPr id="12" name="Freeform 12"/>
          <p:cNvSpPr/>
          <p:nvPr/>
        </p:nvSpPr>
        <p:spPr>
          <a:xfrm>
            <a:off x="10386026" y="6423577"/>
            <a:ext cx="13746548" cy="8229600"/>
          </a:xfrm>
          <a:custGeom>
            <a:avLst/>
            <a:gdLst/>
            <a:ahLst/>
            <a:cxnLst/>
            <a:rect l="l" t="t" r="r" b="b"/>
            <a:pathLst>
              <a:path w="13746548" h="8229600">
                <a:moveTo>
                  <a:pt x="0" y="0"/>
                </a:moveTo>
                <a:lnTo>
                  <a:pt x="13746548" y="0"/>
                </a:lnTo>
                <a:lnTo>
                  <a:pt x="13746548" y="8229600"/>
                </a:lnTo>
                <a:lnTo>
                  <a:pt x="0" y="8229600"/>
                </a:lnTo>
                <a:lnTo>
                  <a:pt x="0" y="0"/>
                </a:lnTo>
                <a:close/>
              </a:path>
            </a:pathLst>
          </a:custGeom>
          <a:blipFill>
            <a:blip r:embed="rId5"/>
            <a:stretch>
              <a:fillRect/>
            </a:stretch>
          </a:blipFill>
        </p:spPr>
        <p:txBody>
          <a:bodyPr/>
          <a:lstStyle/>
          <a:p>
            <a:endParaRPr lang="en-MN"/>
          </a:p>
        </p:txBody>
      </p:sp>
      <p:sp>
        <p:nvSpPr>
          <p:cNvPr id="13" name="TextBox 13"/>
          <p:cNvSpPr txBox="1"/>
          <p:nvPr/>
        </p:nvSpPr>
        <p:spPr>
          <a:xfrm>
            <a:off x="1583981" y="4007878"/>
            <a:ext cx="15120037" cy="2206817"/>
          </a:xfrm>
          <a:prstGeom prst="rect">
            <a:avLst/>
          </a:prstGeom>
        </p:spPr>
        <p:txBody>
          <a:bodyPr lIns="0" tIns="0" rIns="0" bIns="0" rtlCol="0" anchor="t">
            <a:spAutoFit/>
          </a:bodyPr>
          <a:lstStyle/>
          <a:p>
            <a:pPr marL="0" lvl="0" indent="0" algn="ctr">
              <a:lnSpc>
                <a:spcPts val="18014"/>
              </a:lnSpc>
              <a:spcBef>
                <a:spcPct val="0"/>
              </a:spcBef>
            </a:pPr>
            <a:r>
              <a:rPr lang="en-US" sz="12867" b="1" spc="295">
                <a:solidFill>
                  <a:srgbClr val="FFFFFF"/>
                </a:solidFill>
                <a:latin typeface="Montserrat Ultra-Bold"/>
                <a:ea typeface="Montserrat Ultra-Bold"/>
                <a:cs typeface="Montserrat Ultra-Bold"/>
                <a:sym typeface="Montserrat Ultra-Bold"/>
              </a:rPr>
              <a:t>THANK YOU</a:t>
            </a:r>
          </a:p>
        </p:txBody>
      </p:sp>
      <p:sp>
        <p:nvSpPr>
          <p:cNvPr id="14" name="TextBox 14"/>
          <p:cNvSpPr txBox="1"/>
          <p:nvPr/>
        </p:nvSpPr>
        <p:spPr>
          <a:xfrm>
            <a:off x="6252776" y="9220200"/>
            <a:ext cx="5782449" cy="306705"/>
          </a:xfrm>
          <a:prstGeom prst="rect">
            <a:avLst/>
          </a:prstGeom>
        </p:spPr>
        <p:txBody>
          <a:bodyPr lIns="0" tIns="0" rIns="0" bIns="0" rtlCol="0" anchor="t">
            <a:spAutoFit/>
          </a:bodyPr>
          <a:lstStyle/>
          <a:p>
            <a:pPr algn="ctr">
              <a:lnSpc>
                <a:spcPts val="2520"/>
              </a:lnSpc>
            </a:pPr>
            <a:r>
              <a:rPr lang="en-US" sz="1800">
                <a:solidFill>
                  <a:srgbClr val="FFFFFF"/>
                </a:solidFill>
                <a:latin typeface="Open Sauce"/>
                <a:ea typeface="Open Sauce"/>
                <a:cs typeface="Open Sauce"/>
                <a:sym typeface="Open Sauce"/>
              </a:rPr>
              <a:t>www.reallygreatsite.com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1049</Words>
  <Application>Microsoft Macintosh PowerPoint</Application>
  <PresentationFormat>Custom</PresentationFormat>
  <Paragraphs>146</Paragraphs>
  <Slides>13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Open Sauce Bold</vt:lpstr>
      <vt:lpstr>Montserrat Bold</vt:lpstr>
      <vt:lpstr>Arial</vt:lpstr>
      <vt:lpstr>Open Sauce</vt:lpstr>
      <vt:lpstr>Open Sauce Light</vt:lpstr>
      <vt:lpstr>Montserrat</vt:lpstr>
      <vt:lpstr>Montserrat Ultra-Bold</vt:lpstr>
      <vt:lpstr>Calibri</vt:lpstr>
      <vt:lpstr>Open Sauce Heavy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processing (CA)</dc:title>
  <cp:lastModifiedBy>Lkhagva-Ochir .M</cp:lastModifiedBy>
  <cp:revision>2</cp:revision>
  <dcterms:created xsi:type="dcterms:W3CDTF">2006-08-16T00:00:00Z</dcterms:created>
  <dcterms:modified xsi:type="dcterms:W3CDTF">2025-04-13T17:42:16Z</dcterms:modified>
  <dc:identifier>DAGh8Y8421I</dc:identifier>
</cp:coreProperties>
</file>